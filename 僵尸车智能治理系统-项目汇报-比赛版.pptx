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20 秒：一句话点题——从传感器到云端、从硬件到 App 全覆盖的僵尸车智能治理系统；选题聚焦城市僵尸车治理链条中最薄弱的发现环节，用 IoT 技术把被动巡查变成主动预警。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秒。上方四卡讲为什么难（治理痛点），下方数据看板讲市场为什么值得做。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秒。左侧传统方法 vs 本项目方法对比，右侧列出本项目四个核心创新点。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秒。先走一遍五层链路，再点出核心逻辑。这一页是全场技术叙事的地图，后面的功能页都从这张图上展开。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秒。左边是节点实物，右边讲判定逻辑：超声波触发、地磁确认、时间阈值三因子依次成立才判定僵尸车，所以误报率压到 3% 以下。顶部四个数字里，续航 6 个月与日均功耗 1% 是同一件事的两面。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秒。上半部分讲通信链路三步流程，中部讲三个可靠性设计，底部数字佐证。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秒。节点自己没有联网能力，全靠网关。网关向下按在线列表逐个点名，向上把数据打包成 MQTT 代所有节点上报云端，还负责判死与重连。左边是网关实物。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秒。这一页几句话带过。云平台不参与判定，它的价值是把设备统一管起来：每个节点在平台上都有身份，固件托管在平台侧统一分发，APP 的指令也经它转达。下面这张图是数据与指令的流向。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秒。首页是用户第一眼看到的界面。上面三条时间参数串起整个治理时效：3s 轮询主动发现、24h 未移动即告警、72h 判定僵尸车进入处置。下面表格说明首页每一块信息的来源与判定规则。首页刻意不做功能入口堆砌。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秒。数据页把 3s 轮询得到的原始状态聚合成四类可决策视图，支撑长时间趋势分析与治理成效复盘。下方表格说明每个统计项对应什么治理动作。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秒。车位页负责快速定位，详情页负责取证与处置。上面给出车牌识别的置信度分档，低于 70% 会标红提醒人工核对。下方表格说明列表与详情各自的关键规则。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秒。告警由车位数据派生，不是独立后端接口。上面是四段式工单流转：待处理、已通知、处理中、已处理。告警生成后 3 秒内推送至 APP，按提示、警告、紧急分级处置。下方表格说明每个处置动作的触发条件与系统行为。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秒。诊断页把不可见的设备状态摊开成表格，运维无需到场即可判断。设备在线状态、车位占用、网关门控、电池电压与信号强度均为平台真实数据，由节点上报后经网关汇总。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秒。策略分两条下发路径：平台策略纯 APP 本地即时生效，节点策略必须网关在线才能经 OneNET 与 LoRa 下发到节点。下面是 OTA 的检测窗口与状态机，升级过程中进度按已发送字节占比实时回传，圆环同步显示。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秒。语音助手基于 MCP 协议，把后台能力封装成可调用的工具。三个真实问答：问整体态势、问僵尸车位、问单个车位停留时长。价值在于巡检人员双手占用时不用掏手机。右边是实物。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秒。摄像头是取证环节的关键一环。节点判定僵尸车之后触发拍照，照片经车牌识别接口得到车牌号、颜色与置信度，随告警一起归档，形成可追溯的证据链。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秒。三栏分别对应通信可靠性、内存稳定性和升级可靠性三个核心难题。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秒。用两段话收束。第一段给结论：全链路自研闭环、成本与可靠性、实测表现。第二段给展望：场景复用、平台对接、组网扩展、零取电四个方向。讲完停一下，把节奏留给提问。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108722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省级物联网大赛 · 项目汇报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2450592"/>
            <a:ext cx="10872216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45836" y="3511296"/>
            <a:ext cx="1097280" cy="3657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639312"/>
            <a:ext cx="1087221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STM32 + LoRa + OneNET 的僵尸车自动发现与取证闭环方案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4114800"/>
            <a:ext cx="1087221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 裸机节点 · 自研 BootLoader OTA · LoRa 私有轮询协议 · ESP8266 网关 · OneNET Studio · Flutter App · MCP 语音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4130" y="4590288"/>
            <a:ext cx="9829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4130" y="4590288"/>
            <a:ext cx="9829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75126" y="4590288"/>
            <a:ext cx="11003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126" y="4590288"/>
            <a:ext cx="1100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03470" y="4590288"/>
            <a:ext cx="11430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3470" y="4590288"/>
            <a:ext cx="1143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ESP8266 网关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4486" y="4590288"/>
            <a:ext cx="12496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4486" y="4590288"/>
            <a:ext cx="12496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Studio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182" y="4590288"/>
            <a:ext cx="110032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182" y="4590288"/>
            <a:ext cx="1100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80526" y="4590288"/>
            <a:ext cx="84429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80526" y="4590288"/>
            <a:ext cx="8442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语音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5797296"/>
            <a:ext cx="108722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汇报人：____________　·　2026 年 9 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选题背景与市场前景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四大短板制约治理，IoT 自动化方案具备规模化潜力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公安部道交研究中心 2022；公开政务数据 2024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389888"/>
            <a:ext cx="527608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389888"/>
            <a:ext cx="45720" cy="128016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51790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53312" y="1517904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发现靠人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" y="1828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依赖人工巡查与群众举报，遗漏率高，僵尸车长期潜伏无人知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35624" y="1389888"/>
            <a:ext cx="527608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35624" y="1389888"/>
            <a:ext cx="45720" cy="1280160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17" name="Text 14"/>
          <p:cNvSpPr/>
          <p:nvPr/>
        </p:nvSpPr>
        <p:spPr>
          <a:xfrm>
            <a:off x="6336792" y="1517904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30568" y="1517904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认定无标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36792" y="182880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道路交通安全法仅禁止违停，未界定僵尸车，各地标准不一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58368" y="2871216"/>
            <a:ext cx="527608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2871216"/>
            <a:ext cx="45720" cy="1280160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22" name="Text 19"/>
          <p:cNvSpPr/>
          <p:nvPr/>
        </p:nvSpPr>
        <p:spPr>
          <a:xfrm>
            <a:off x="859536" y="2999232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53312" y="2999232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主体不清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" y="331012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物业、城管、交管职责交叉，无统筹机制，推诿扯皮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35624" y="2871216"/>
            <a:ext cx="527608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35624" y="2871216"/>
            <a:ext cx="45720" cy="12801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7" name="Text 24"/>
          <p:cNvSpPr/>
          <p:nvPr/>
        </p:nvSpPr>
        <p:spPr>
          <a:xfrm>
            <a:off x="6336792" y="2999232"/>
            <a:ext cx="4572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30568" y="2999232"/>
            <a:ext cx="439826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处置无门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36792" y="331012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18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报废需车主配合，公示 1 年方可收归国有，车主不配合则搁置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58368" y="424281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市场规模与治理需求（数据来源：公开政务统计）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58368" y="4462272"/>
            <a:ext cx="260604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4553712"/>
            <a:ext cx="2606040" cy="62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600+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658368" y="5142586"/>
            <a:ext cx="2606040" cy="362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全国城市存量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僵尸车超 600 万辆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91840" y="4462272"/>
            <a:ext cx="260604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91840" y="4553712"/>
            <a:ext cx="2606040" cy="62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167 亿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3291840" y="5142586"/>
            <a:ext cx="2606040" cy="362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年占用公共车位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造成的经济损失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925312" y="4462272"/>
            <a:ext cx="260604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5312" y="4553712"/>
            <a:ext cx="2606040" cy="62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70%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5925312" y="5142586"/>
            <a:ext cx="2606040" cy="362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人工巡检覆盖率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不足，遗漏率高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558784" y="4462272"/>
            <a:ext cx="260604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58784" y="4553712"/>
            <a:ext cx="2606040" cy="623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12→3 天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8558784" y="5142586"/>
            <a:ext cx="2606040" cy="362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处置周期有望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从半月缩短至 3 天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58368" y="5687568"/>
            <a:ext cx="1087221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6656" y="5797296"/>
            <a:ext cx="45720" cy="12801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5" name="Text 42"/>
          <p:cNvSpPr/>
          <p:nvPr/>
        </p:nvSpPr>
        <p:spPr>
          <a:xfrm>
            <a:off x="950976" y="5687568"/>
            <a:ext cx="1028700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选题锚点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治理链条最薄弱环节是「发现」——用 IoT 技术把被动发现变成主动预警，具备规模化落地潜力。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选题定位与创新点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传统方案 VS 本项目：自研协议栈打通发现→认定→处置全链条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6675120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1536192"/>
            <a:ext cx="295351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传统方法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78808" y="1536192"/>
            <a:ext cx="295351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59352" y="1609344"/>
            <a:ext cx="73152" cy="2596896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1901952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人工巡查 + 群众举报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78808" y="1901952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 + 时间三因子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9536" y="2478024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发现滞后，依赖巡查频率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78808" y="2478024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实时检测，超阈值即刻告警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9536" y="3054096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人工拍照，证据链不完整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78808" y="3054096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自动拍照 + 车牌识别留档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59536" y="3630168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受人力限制，偏重点区域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78808" y="3630168"/>
            <a:ext cx="2953512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一个网关覆盖整层，无死角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07808" y="1426464"/>
            <a:ext cx="3922776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27264" y="1536192"/>
            <a:ext cx="34838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四大核心创新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845552" y="1883664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5" name="Text 22"/>
          <p:cNvSpPr/>
          <p:nvPr/>
        </p:nvSpPr>
        <p:spPr>
          <a:xfrm>
            <a:off x="7845552" y="188366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私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47888" y="1883664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LoRa 私有轮询协议，18B 二进制帧零碰撞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845552" y="2505456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28" name="Text 25"/>
          <p:cNvSpPr/>
          <p:nvPr/>
        </p:nvSpPr>
        <p:spPr>
          <a:xfrm>
            <a:off x="7845552" y="250545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247888" y="2505456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三因子融合判定，误报率降至 3% 以下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845552" y="3127248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1" name="Text 28"/>
          <p:cNvSpPr/>
          <p:nvPr/>
        </p:nvSpPr>
        <p:spPr>
          <a:xfrm>
            <a:off x="7845552" y="312724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47888" y="3127248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BootLoader，OTA 两阶段提交 + 断电自愈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845552" y="3749040"/>
            <a:ext cx="310896" cy="310896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4" name="Text 31"/>
          <p:cNvSpPr/>
          <p:nvPr/>
        </p:nvSpPr>
        <p:spPr>
          <a:xfrm>
            <a:off x="7845552" y="374904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247888" y="3749040"/>
            <a:ext cx="30632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代上报 + MCP 语音全链路打通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58368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2960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316736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自动发现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2960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三因子融合判定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7x24 实时监控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406140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70732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3" name="Text 40"/>
          <p:cNvSpPr/>
          <p:nvPr/>
        </p:nvSpPr>
        <p:spPr>
          <a:xfrm>
            <a:off x="3570732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064508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免布线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570732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无线组网，老旧小区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与路侧场景零施工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53912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18504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8" name="Text 45"/>
          <p:cNvSpPr/>
          <p:nvPr/>
        </p:nvSpPr>
        <p:spPr>
          <a:xfrm>
            <a:off x="6318504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812280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取证闭环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318504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告警自动拍照取证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车牌识别留档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901684" y="4572000"/>
            <a:ext cx="2628900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066276" y="4718304"/>
            <a:ext cx="384048" cy="384048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3" name="Text 50"/>
          <p:cNvSpPr/>
          <p:nvPr/>
        </p:nvSpPr>
        <p:spPr>
          <a:xfrm>
            <a:off x="9066276" y="4718304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9560052" y="4718304"/>
            <a:ext cx="18425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数据贯通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066276" y="5102352"/>
            <a:ext cx="22997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占用时长与告警记录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直达物业 / 交管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系统方案总览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五层链路全部自研，每一层都做了可靠性设计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6676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STM32F103 节点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 + 报警灯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02052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58084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58084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无线层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12948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433MHz 定点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012948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网关轮询 · 半双工防碰撞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878324" y="1929384"/>
            <a:ext cx="256032" cy="0"/>
          </a:xfrm>
          <a:prstGeom prst="line">
            <a:avLst/>
          </a:prstGeom>
          <a:noFill/>
          <a:ln w="19050">
            <a:solidFill>
              <a:srgbClr val="0F62D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134356" y="1426464"/>
            <a:ext cx="1920240" cy="1005840"/>
          </a:xfrm>
          <a:prstGeom prst="rect">
            <a:avLst/>
          </a:prstGeom>
          <a:solidFill>
            <a:srgbClr val="EDF3FD"/>
          </a:solidFill>
          <a:ln w="15875">
            <a:solidFill>
              <a:srgbClr val="0F62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34356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汇聚层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89220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ESP8266 / ESP32 网关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89220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轮询调度 · MQTT 代上报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54596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0628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0628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65492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Studio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65492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 · 子设备拓扑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230868" y="1929384"/>
            <a:ext cx="256032" cy="0"/>
          </a:xfrm>
          <a:prstGeom prst="line">
            <a:avLst/>
          </a:prstGeom>
          <a:noFill/>
          <a:ln w="15875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486900" y="1426464"/>
            <a:ext cx="1920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86900" y="1545336"/>
            <a:ext cx="19202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541764" y="174650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 / Web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541764" y="2020824"/>
            <a:ext cx="18105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语音 · 车牌识别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58368" y="257860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62D6"/>
          </a:solidFill>
          <a:ln/>
        </p:spPr>
      </p:sp>
      <p:sp>
        <p:nvSpPr>
          <p:cNvPr id="35" name="Text 32"/>
          <p:cNvSpPr/>
          <p:nvPr/>
        </p:nvSpPr>
        <p:spPr>
          <a:xfrm>
            <a:off x="658368" y="2578608"/>
            <a:ext cx="10058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核心逻辑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773936" y="2578608"/>
            <a:ext cx="97566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网关点名 - 节点回答 - 网关代子设备上报；一个节点掉线不影响其他节点。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58368" y="2980944"/>
            <a:ext cx="196596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431036" y="3145536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9" name="Text 36"/>
          <p:cNvSpPr/>
          <p:nvPr/>
        </p:nvSpPr>
        <p:spPr>
          <a:xfrm>
            <a:off x="1431036" y="3145536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731520" y="3639312"/>
            <a:ext cx="18196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86384" y="3931920"/>
            <a:ext cx="1709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 + 地磁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三态判定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僵尸车识别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2788920" y="2980944"/>
            <a:ext cx="196596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561588" y="3145536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4" name="Text 41"/>
          <p:cNvSpPr/>
          <p:nvPr/>
        </p:nvSpPr>
        <p:spPr>
          <a:xfrm>
            <a:off x="3561588" y="3145536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2862072" y="3639312"/>
            <a:ext cx="18196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无线层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916936" y="3931920"/>
            <a:ext cx="1709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轮询调度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在线快速路径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离线指数退避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919472" y="2980944"/>
            <a:ext cx="196596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692140" y="3145536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9" name="Text 46"/>
          <p:cNvSpPr/>
          <p:nvPr/>
        </p:nvSpPr>
        <p:spPr>
          <a:xfrm>
            <a:off x="5692140" y="3145536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4992624" y="3639312"/>
            <a:ext cx="18196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网关层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047488" y="3931920"/>
            <a:ext cx="1709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MQTT 代上报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假死检测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证书持久化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7050024" y="2980944"/>
            <a:ext cx="196596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822692" y="3145536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4" name="Text 51"/>
          <p:cNvSpPr/>
          <p:nvPr/>
        </p:nvSpPr>
        <p:spPr>
          <a:xfrm>
            <a:off x="7822692" y="3145536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</a:t>
            </a:r>
            <a:endParaRPr lang="en-US" sz="1500" dirty="0"/>
          </a:p>
        </p:txBody>
      </p:sp>
      <p:sp>
        <p:nvSpPr>
          <p:cNvPr id="55" name="Text 52"/>
          <p:cNvSpPr/>
          <p:nvPr/>
        </p:nvSpPr>
        <p:spPr>
          <a:xfrm>
            <a:off x="7123176" y="3639312"/>
            <a:ext cx="18196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7178040" y="3931920"/>
            <a:ext cx="1709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+ 子设备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物模型管理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服务调用反馈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9180576" y="2980944"/>
            <a:ext cx="196596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953244" y="3145536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59" name="Text 56"/>
          <p:cNvSpPr/>
          <p:nvPr/>
        </p:nvSpPr>
        <p:spPr>
          <a:xfrm>
            <a:off x="9953244" y="3145536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9253728" y="3639312"/>
            <a:ext cx="181965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9308592" y="3931920"/>
            <a:ext cx="17099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App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语音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658368" y="5230368"/>
            <a:ext cx="10872216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76656" y="5340096"/>
            <a:ext cx="45720" cy="21945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64" name="Text 61"/>
          <p:cNvSpPr/>
          <p:nvPr/>
        </p:nvSpPr>
        <p:spPr>
          <a:xfrm>
            <a:off x="950976" y="5230368"/>
            <a:ext cx="10287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工程化亮点  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感知层双重传感器融合，无线层理论上零碰撞，网关层 MQTT 假死检测 + 证书落盘，应用层四端覆盖含 AI 语音与车牌取证。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节点：三因子融合判定 + 超低功耗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8368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误报率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（三因子交叉验证）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06140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06140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&gt;99%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406140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识别准确率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（实测数据）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53912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53912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个月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153912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单节点续航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（2000mAh 电池）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01684" y="1426464"/>
            <a:ext cx="26289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01684" y="1517904"/>
            <a:ext cx="2628900" cy="754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901684" y="2249424"/>
            <a:ext cx="26289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日均功耗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休眠唤醒策略</a:t>
            </a:r>
            <a:endParaRPr lang="en-US" sz="900" dirty="0"/>
          </a:p>
        </p:txBody>
      </p:sp>
      <p:pic>
        <p:nvPicPr>
          <p:cNvPr id="22" name="Image 0" descr="G:/All_Project/Trae_Project/Smart-Paring-Iot/Doc/硬件资料/节点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889504"/>
            <a:ext cx="3794760" cy="3054096"/>
          </a:xfrm>
          <a:prstGeom prst="roundRect">
            <a:avLst>
              <a:gd name="adj" fmla="val 4000"/>
            </a:avLst>
          </a:prstGeom>
        </p:spPr>
      </p:pic>
      <p:sp>
        <p:nvSpPr>
          <p:cNvPr id="23" name="Text 19"/>
          <p:cNvSpPr/>
          <p:nvPr/>
        </p:nvSpPr>
        <p:spPr>
          <a:xfrm>
            <a:off x="658368" y="5980176"/>
            <a:ext cx="37947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节点实物：STM32F103 + 超声波 + 地磁 + LoRa 模组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92040" y="2889504"/>
            <a:ext cx="66385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三因子依次成立才判定僵尸车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92040" y="3273552"/>
            <a:ext cx="66385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超声波触发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92040" y="3529584"/>
            <a:ext cx="663854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检测前方遮挡，触发时间计数器；持续遮挡才计入占用时长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92040" y="4005072"/>
            <a:ext cx="66385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地磁确认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92040" y="4261104"/>
            <a:ext cx="663854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磁场突变作为第二因子，超声波与地磁双确认防误判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892040" y="4736592"/>
            <a:ext cx="663854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时间阈值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92040" y="4992624"/>
            <a:ext cx="663854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双因子一致且持续超时自动标为僵尸车，阈值可远程调优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92040" y="5559552"/>
            <a:ext cx="663854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低功耗设计  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超声波常态休眠、地磁常醒微耗、时间触发判决，三态协同把日均功耗压到 1% 以下。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无线层 · 自研协议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LoRa 私有协议：18B 帧 + 轮询零碰撞 + 断线自愈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 · lora_protocol.h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1673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通信链路：网关点名 → 节点应答 → 数据校验 → 代上报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网关点名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68096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按在线列表逐个发送 PING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88970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445002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54730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54730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节点应答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554730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回传传感器数据 + 状态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75604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231636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41364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41364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数据校验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341364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CRC16 校验通过才采纳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762238" y="2075688"/>
            <a:ext cx="237744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018270" y="1572768"/>
            <a:ext cx="2512314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27998" y="1664208"/>
            <a:ext cx="229285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27998" y="1883664"/>
            <a:ext cx="2292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代上报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127998" y="2121408"/>
            <a:ext cx="2292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网关打包 MQTT 上传 OneNET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58368" y="2798064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6656" y="2907792"/>
            <a:ext cx="45720" cy="124358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2" name="Shape 29"/>
          <p:cNvSpPr/>
          <p:nvPr/>
        </p:nvSpPr>
        <p:spPr>
          <a:xfrm>
            <a:off x="859536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3" name="Text 30"/>
          <p:cNvSpPr/>
          <p:nvPr/>
        </p:nvSpPr>
        <p:spPr>
          <a:xfrm>
            <a:off x="859536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389888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零碰撞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389888" y="3200400"/>
            <a:ext cx="256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半双工轮询：同一时刻仅一个节点发送，多节点场景天然防撞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343400" y="2798064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61688" y="2907792"/>
            <a:ext cx="45720" cy="124358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8" name="Shape 35"/>
          <p:cNvSpPr/>
          <p:nvPr/>
        </p:nvSpPr>
        <p:spPr>
          <a:xfrm>
            <a:off x="4544568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39" name="Text 36"/>
          <p:cNvSpPr/>
          <p:nvPr/>
        </p:nvSpPr>
        <p:spPr>
          <a:xfrm>
            <a:off x="4544568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074920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超短帧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74920" y="3200400"/>
            <a:ext cx="256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18B 二进制帧 + CRC16 校验，比标准帧瘦身 70%，传输时间减半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028432" y="2798064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46720" y="2907792"/>
            <a:ext cx="45720" cy="1243584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44" name="Shape 41"/>
          <p:cNvSpPr/>
          <p:nvPr/>
        </p:nvSpPr>
        <p:spPr>
          <a:xfrm>
            <a:off x="8229600" y="29443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45" name="Text 42"/>
          <p:cNvSpPr/>
          <p:nvPr/>
        </p:nvSpPr>
        <p:spPr>
          <a:xfrm>
            <a:off x="8229600" y="29443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759952" y="2926080"/>
            <a:ext cx="256946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自愈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759952" y="3200400"/>
            <a:ext cx="2569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节点掉线不影响邻居；网关侧指数退避判定离线，假死自动重启连接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58368" y="4407408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58368" y="4498848"/>
            <a:ext cx="3520440" cy="65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18B</a:t>
            </a:r>
            <a:endParaRPr lang="en-US" sz="2600" dirty="0"/>
          </a:p>
        </p:txBody>
      </p:sp>
      <p:sp>
        <p:nvSpPr>
          <p:cNvPr id="50" name="Text 47"/>
          <p:cNvSpPr/>
          <p:nvPr/>
        </p:nvSpPr>
        <p:spPr>
          <a:xfrm>
            <a:off x="658368" y="5120640"/>
            <a:ext cx="3520440" cy="380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单帧长度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（标准帧 60B）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343400" y="4407408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343400" y="4498848"/>
            <a:ext cx="3520440" cy="65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2600" dirty="0"/>
          </a:p>
        </p:txBody>
      </p:sp>
      <p:sp>
        <p:nvSpPr>
          <p:cNvPr id="53" name="Text 50"/>
          <p:cNvSpPr/>
          <p:nvPr/>
        </p:nvSpPr>
        <p:spPr>
          <a:xfrm>
            <a:off x="4343400" y="5120640"/>
            <a:ext cx="3520440" cy="380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链路碰撞率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（轮询串行调度）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028432" y="4407408"/>
            <a:ext cx="35204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28432" y="4498848"/>
            <a:ext cx="3520440" cy="65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3s</a:t>
            </a:r>
            <a:endParaRPr lang="en-US" sz="2600" dirty="0"/>
          </a:p>
        </p:txBody>
      </p:sp>
      <p:sp>
        <p:nvSpPr>
          <p:cNvPr id="56" name="Text 53"/>
          <p:cNvSpPr/>
          <p:nvPr/>
        </p:nvSpPr>
        <p:spPr>
          <a:xfrm>
            <a:off x="8028432" y="5120640"/>
            <a:ext cx="3520440" cy="380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单节点超时上限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超时即判定离线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网关：链路枢纽，向下轮询、向上代上报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pic>
        <p:nvPicPr>
          <p:cNvPr id="10" name="Image 0" descr="G:/All_Project/Trae_Project/Smart-Paring-Iot/Doc/硬件资料/网关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26464"/>
            <a:ext cx="3328416" cy="4434840"/>
          </a:xfrm>
          <a:prstGeom prst="roundRect">
            <a:avLst>
              <a:gd name="adj" fmla="val 4000"/>
            </a:avLst>
          </a:prstGeom>
        </p:spPr>
      </p:pic>
      <p:sp>
        <p:nvSpPr>
          <p:cNvPr id="11" name="Text 7"/>
          <p:cNvSpPr/>
          <p:nvPr/>
        </p:nvSpPr>
        <p:spPr>
          <a:xfrm>
            <a:off x="658368" y="5897880"/>
            <a:ext cx="3328416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网关实物：负责轮询调度与 MQTT 代上报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443984" y="1426464"/>
            <a:ext cx="708660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网关是链路的枢纽：向下轮询节点采集数据，向上以 MQTT 代所有节点上报云端。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43984" y="1993392"/>
            <a:ext cx="7086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网关承担什么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443984" y="2377440"/>
            <a:ext cx="708660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377440"/>
            <a:ext cx="13898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职责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17920" y="2377440"/>
            <a:ext cx="51846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实现方式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443984" y="2688336"/>
            <a:ext cx="708660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0" y="2688336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轮询调度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17920" y="2688336"/>
            <a:ext cx="5184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按在线列表逐个 PING 节点，半双工串行，天然防碰撞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443984" y="3364992"/>
            <a:ext cx="708660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0" y="3364992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数据汇聚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217920" y="3364992"/>
            <a:ext cx="5184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CRC16 校验通过后打包，以 MQTT 代节点上报 OneNET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443984" y="4041648"/>
            <a:ext cx="708660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0" y="4041648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链路自愈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17920" y="4041648"/>
            <a:ext cx="5184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双阈值心跳：30s 无数据告警，60s 无响应自动重连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43984" y="4718304"/>
            <a:ext cx="708660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0" y="4718304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现场运维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217920" y="4718304"/>
            <a:ext cx="5184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OLED 显示在线节点数，配置门户支持无网就地配网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443984" y="5394960"/>
            <a:ext cx="708660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0" y="5394960"/>
            <a:ext cx="1389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升级门控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217920" y="5394960"/>
            <a:ext cx="51846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OtaAllow 统一放行全网升级，避免节点各自为战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443984" y="6071616"/>
            <a:ext cx="708660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云平台：设备托管、固件分发、指令中转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1087221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云平台不参与判定，它做的是把设备管起来、把指令送下去。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1755648"/>
            <a:ext cx="10433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2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网关与每个节点在平台上都有独立身份与物模型，在线状态、子设备拓扑一目了然；固件升级包托管在平台侧，由平台向指定设备下发并回传状态，配合网关的 OtaAllow 门控实现全网统一放行；APP 发出的远程拍照、报警灯控制等指令也经平台转达网关，再由 LoRa 送达节点。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3090672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数据与指令的流转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8368" y="3694176"/>
            <a:ext cx="29260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840480"/>
            <a:ext cx="29260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现场设备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" y="4133088"/>
            <a:ext cx="267004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网关 + STM32 节点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6384" y="4407408"/>
            <a:ext cx="267004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 → 校验 → 代上报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613648" y="3694176"/>
            <a:ext cx="291693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13648" y="3840480"/>
            <a:ext cx="29169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 APP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41664" y="4133088"/>
            <a:ext cx="26609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Flutter 客户端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741664" y="4407408"/>
            <a:ext cx="2660904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远程下发与处置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41648" y="3401568"/>
            <a:ext cx="4114800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59936" y="3511296"/>
            <a:ext cx="45720" cy="155448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3" name="Text 20"/>
          <p:cNvSpPr/>
          <p:nvPr/>
        </p:nvSpPr>
        <p:spPr>
          <a:xfrm>
            <a:off x="4041648" y="3566160"/>
            <a:ext cx="4114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Studio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041648" y="3858768"/>
            <a:ext cx="4114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43984" y="4270248"/>
            <a:ext cx="82296" cy="8229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6" name="Text 23"/>
          <p:cNvSpPr/>
          <p:nvPr/>
        </p:nvSpPr>
        <p:spPr>
          <a:xfrm>
            <a:off x="4626864" y="4187952"/>
            <a:ext cx="32735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物模型与子设备拓扑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43984" y="4562856"/>
            <a:ext cx="82296" cy="8229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28" name="Text 25"/>
          <p:cNvSpPr/>
          <p:nvPr/>
        </p:nvSpPr>
        <p:spPr>
          <a:xfrm>
            <a:off x="4626864" y="4480560"/>
            <a:ext cx="32735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固件托管与 OTA 分发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443984" y="4855464"/>
            <a:ext cx="82296" cy="8229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0" name="Text 27"/>
          <p:cNvSpPr/>
          <p:nvPr/>
        </p:nvSpPr>
        <p:spPr>
          <a:xfrm>
            <a:off x="4626864" y="4773168"/>
            <a:ext cx="327355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服务调用与命令下发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21024" y="4288536"/>
            <a:ext cx="384048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174736" y="4288536"/>
            <a:ext cx="40233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658368" y="5577840"/>
            <a:ext cx="104333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   </a:t>
            </a:r>
            <a:pPr indent="0" marL="0">
              <a:buNone/>
            </a:pPr>
            <a:r>
              <a:rPr lang="en-US" sz="10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云平台把「谁在线、谁的固件是什么版本」统一管起来，APP 与设备之间不需要知道彼此的地址。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首页：一屏掌握全局态势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408176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" y="1993392"/>
            <a:ext cx="22860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数据轮询间隔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" y="2231136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主动发现问题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99232" y="1691640"/>
            <a:ext cx="393192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447288" y="1408176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24h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447288" y="1993392"/>
            <a:ext cx="22860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触发告警阈值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447288" y="2231136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长时间未移动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88152" y="1691640"/>
            <a:ext cx="393192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236208" y="1408176"/>
            <a:ext cx="2286000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72h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236208" y="1993392"/>
            <a:ext cx="228600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判定僵尸车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36208" y="2231136"/>
            <a:ext cx="2286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进入处置流程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8368" y="2578608"/>
            <a:ext cx="78638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61488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首页承载的信息结构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" y="3090672"/>
            <a:ext cx="78638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3090672"/>
            <a:ext cx="1527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首页模块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69464" y="3090672"/>
            <a:ext cx="31729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承载内容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98464" y="3090672"/>
            <a:ext cx="23957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数据来源与规则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58368" y="3401568"/>
            <a:ext cx="78638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384" y="3401568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车位概览四格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569464" y="340156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总车位 · 空闲 · 占用 · 僵尸车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98464" y="3401568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物模型轮询派生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8368" y="3968496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6384" y="3968496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占用状态饼图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569464" y="39684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 / 占用 / 僵尸三态占比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998464" y="396849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状态色：绿 / 橙 / 红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" y="4535424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" y="4535424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最新僵尸车告警卡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569464" y="453542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车位号 · 车牌 · 已占用时长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98464" y="453542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 ≥72h 自动置顶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58368" y="5102352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102352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设备中心入口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2569464" y="5102352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网关与节点在线状态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998464" y="510235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离线设备灰显并置顶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58368" y="5669280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8368" y="5705856"/>
            <a:ext cx="7863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设计取向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首页不做功能入口堆砌，只回答三件事：有没有车、哪些是僵尸车、先处理谁。</a:t>
            </a:r>
            <a:endParaRPr lang="en-US" sz="1000" dirty="0"/>
          </a:p>
        </p:txBody>
      </p:sp>
      <p:pic>
        <p:nvPicPr>
          <p:cNvPr id="45" name="Image 0" descr="G:/All_Project/Trae_Project/Smart-Paring-Iot/Doc/软件界面/首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1417320"/>
            <a:ext cx="1984248" cy="4315968"/>
          </a:xfrm>
          <a:prstGeom prst="roundRect">
            <a:avLst>
              <a:gd name="adj" fmla="val 4000"/>
            </a:avLst>
          </a:prstGeom>
        </p:spPr>
      </p:pic>
      <p:sp>
        <p:nvSpPr>
          <p:cNvPr id="46" name="Text 42"/>
          <p:cNvSpPr/>
          <p:nvPr/>
        </p:nvSpPr>
        <p:spPr>
          <a:xfrm>
            <a:off x="9125712" y="5788152"/>
            <a:ext cx="1984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首页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数据中心：从原始状态到决策依据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786384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数据页把 3s 轮询得到的原始状态，聚合成四类可决策视图。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1810512"/>
            <a:ext cx="23957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概览双卡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" y="215798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车位总数与占用率并列，进页面第一眼判断片区规模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23260" y="1828800"/>
            <a:ext cx="0" cy="1225296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92424" y="1810512"/>
            <a:ext cx="23957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占用构成饼图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92424" y="215798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三态占比一览，配色与车位页状态色保持一致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92424" y="2871216"/>
            <a:ext cx="128016" cy="128016"/>
          </a:xfrm>
          <a:prstGeom prst="rect">
            <a:avLst/>
          </a:prstGeom>
          <a:solidFill>
            <a:srgbClr val="1E8A5F"/>
          </a:solidFill>
          <a:ln/>
        </p:spPr>
      </p:sp>
      <p:sp>
        <p:nvSpPr>
          <p:cNvPr id="17" name="Text 14"/>
          <p:cNvSpPr/>
          <p:nvPr/>
        </p:nvSpPr>
        <p:spPr>
          <a:xfrm>
            <a:off x="3575304" y="2816352"/>
            <a:ext cx="548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空闲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78808" y="2871216"/>
            <a:ext cx="128016" cy="128016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19" name="Text 16"/>
          <p:cNvSpPr/>
          <p:nvPr/>
        </p:nvSpPr>
        <p:spPr>
          <a:xfrm>
            <a:off x="4361688" y="2816352"/>
            <a:ext cx="548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965192" y="2871216"/>
            <a:ext cx="128016" cy="128016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21" name="Text 18"/>
          <p:cNvSpPr/>
          <p:nvPr/>
        </p:nvSpPr>
        <p:spPr>
          <a:xfrm>
            <a:off x="5148072" y="2816352"/>
            <a:ext cx="548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57316" y="1828800"/>
            <a:ext cx="0" cy="1225296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1810512"/>
            <a:ext cx="239572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一周趋势折线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126480" y="215798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天占用率走势，用于判断治理措施是否见效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8368" y="3255264"/>
            <a:ext cx="78638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341985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从统计数据到治理动作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58368" y="3730752"/>
            <a:ext cx="78638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28" name="Text 25"/>
          <p:cNvSpPr/>
          <p:nvPr/>
        </p:nvSpPr>
        <p:spPr>
          <a:xfrm>
            <a:off x="786384" y="3730752"/>
            <a:ext cx="25786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621024" y="3730752"/>
            <a:ext cx="47731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对应的治理动作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58368" y="4041648"/>
            <a:ext cx="78638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6384" y="404164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车位占用率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21024" y="4041648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判断片区车位紧张程度，决定是否申请扩位或调整分区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8368" y="4544568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6384" y="454456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僵尸车数量与占用时长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621024" y="4544568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定位长期占用点位，安排集中清理与派单先后顺序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58368" y="5047488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6384" y="504748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一周占用趋势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621024" y="5047488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复盘治理成效，趋势走向一目了然，直接支撑治理周报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58368" y="5550408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55040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告警总数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621024" y="5550408"/>
            <a:ext cx="4773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评估巡检压力，指导人力配置与巡检频次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58368" y="6053328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pic>
        <p:nvPicPr>
          <p:cNvPr id="43" name="Image 0" descr="G:/All_Project/Trae_Project/Smart-Paring-Iot/Doc/软件界面/数据中心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1417320"/>
            <a:ext cx="1984248" cy="4315968"/>
          </a:xfrm>
          <a:prstGeom prst="roundRect">
            <a:avLst>
              <a:gd name="adj" fmla="val 4000"/>
            </a:avLst>
          </a:prstGeom>
        </p:spPr>
      </p:pic>
      <p:sp>
        <p:nvSpPr>
          <p:cNvPr id="44" name="Text 40"/>
          <p:cNvSpPr/>
          <p:nvPr/>
        </p:nvSpPr>
        <p:spPr>
          <a:xfrm>
            <a:off x="9125712" y="5788152"/>
            <a:ext cx="1984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车位查询：列表到详情的完整下钻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车牌识别的三级置信度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645920"/>
            <a:ext cx="2060448" cy="310896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1645920"/>
            <a:ext cx="20604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70%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" y="2011680"/>
            <a:ext cx="2033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低置信 · 标红，提示人工核对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6248" y="1645920"/>
            <a:ext cx="2060448" cy="310896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15" name="Text 12"/>
          <p:cNvSpPr/>
          <p:nvPr/>
        </p:nvSpPr>
        <p:spPr>
          <a:xfrm>
            <a:off x="2746248" y="1645920"/>
            <a:ext cx="20604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– 90%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6248" y="2011680"/>
            <a:ext cx="2033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中置信 · 琥珀色标记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34128" y="1645920"/>
            <a:ext cx="2060448" cy="310896"/>
          </a:xfrm>
          <a:prstGeom prst="rect">
            <a:avLst/>
          </a:prstGeom>
          <a:solidFill>
            <a:srgbClr val="1E8A5F"/>
          </a:solidFill>
          <a:ln/>
        </p:spPr>
      </p:sp>
      <p:sp>
        <p:nvSpPr>
          <p:cNvPr id="18" name="Text 15"/>
          <p:cNvSpPr/>
          <p:nvPr/>
        </p:nvSpPr>
        <p:spPr>
          <a:xfrm>
            <a:off x="4834128" y="1645920"/>
            <a:ext cx="20604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90%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34128" y="2011680"/>
            <a:ext cx="20330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高置信 · 绿色，可直接采信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8368" y="2304288"/>
            <a:ext cx="6263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车牌徽章按真实车牌颜色渲染（蓝 / 黄 / 绿 / 白 / 黑 / 红 / 灰）。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8368" y="2651760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2779776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列表与详情的能力分工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" y="3090672"/>
            <a:ext cx="62636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3090672"/>
            <a:ext cx="14356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478024" y="3090672"/>
            <a:ext cx="43159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关键能力与规则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58368" y="3401568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3401568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车位列表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78024" y="3401568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/ B 分区筛选；离线设备灰显加云图标；长按菜单仅僵尸车开放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8368" y="3968496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3968496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车位详情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478024" y="3968496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垂直分区：车位 → 车辆 → 设备 → 告警 → 处置操作区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8368" y="4535424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4535424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车牌展示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478024" y="4535424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识别成功显示车牌徽章与置信度；拍过未识别单独提示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" y="5102352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" y="5102352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远程拍照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478024" y="5102352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 Park001 开放，需设备在线且未停用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58368" y="5669280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5724144"/>
            <a:ext cx="6263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取证闭环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车牌只在本次拍照识别成功后写入，车辆真正驶离车位才清除，避免旧牌残留误导。</a:t>
            </a:r>
            <a:endParaRPr lang="en-US" sz="1000" dirty="0"/>
          </a:p>
        </p:txBody>
      </p:sp>
      <p:pic>
        <p:nvPicPr>
          <p:cNvPr id="40" name="Image 0" descr="G:/All_Project/Trae_Project/Smart-Paring-Iot/Doc/软件界面/车位列表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pic>
        <p:nvPicPr>
          <p:cNvPr id="41" name="Image 1" descr="G:/All_Project/Trae_Project/Smart-Paring-Iot/Doc/软件界面/车位详情页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sp>
        <p:nvSpPr>
          <p:cNvPr id="42" name="Text 37"/>
          <p:cNvSpPr/>
          <p:nvPr/>
        </p:nvSpPr>
        <p:spPr>
          <a:xfrm>
            <a:off x="7333488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车位列表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9592056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车位详情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告警处理：从发现到闭环处置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告警状态流转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700784"/>
            <a:ext cx="128016" cy="128016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1609344"/>
            <a:ext cx="10972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待处理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02536" y="1764792"/>
            <a:ext cx="26517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313432" y="1700784"/>
            <a:ext cx="128016" cy="128016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5" name="Text 12"/>
          <p:cNvSpPr/>
          <p:nvPr/>
        </p:nvSpPr>
        <p:spPr>
          <a:xfrm>
            <a:off x="2514600" y="1609344"/>
            <a:ext cx="10972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已通知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0" y="1764792"/>
            <a:ext cx="26517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68496" y="1700784"/>
            <a:ext cx="128016" cy="128016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18" name="Text 15"/>
          <p:cNvSpPr/>
          <p:nvPr/>
        </p:nvSpPr>
        <p:spPr>
          <a:xfrm>
            <a:off x="4169664" y="1609344"/>
            <a:ext cx="10972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处理中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12664" y="1764792"/>
            <a:ext cx="26517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623560" y="1700784"/>
            <a:ext cx="128016" cy="128016"/>
          </a:xfrm>
          <a:prstGeom prst="rect">
            <a:avLst/>
          </a:prstGeom>
          <a:solidFill>
            <a:srgbClr val="1E8A5F"/>
          </a:solidFill>
          <a:ln/>
        </p:spPr>
      </p:sp>
      <p:sp>
        <p:nvSpPr>
          <p:cNvPr id="21" name="Text 18"/>
          <p:cNvSpPr/>
          <p:nvPr/>
        </p:nvSpPr>
        <p:spPr>
          <a:xfrm>
            <a:off x="5824728" y="1609344"/>
            <a:ext cx="10972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已处理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" y="2011680"/>
            <a:ext cx="6263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告警生成后 3 秒内推送至 APP，自动附带车位号、车牌与现场照片。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" y="2249424"/>
            <a:ext cx="6263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按提示 / 警告 / 紧急分级处置，流程标准化，每步操作留痕可追溯。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" y="2542032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2651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处置动作与触发条件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" y="2944368"/>
            <a:ext cx="62636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27" name="Text 24"/>
          <p:cNvSpPr/>
          <p:nvPr/>
        </p:nvSpPr>
        <p:spPr>
          <a:xfrm>
            <a:off x="786384" y="2944368"/>
            <a:ext cx="14356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处置动作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478024" y="2944368"/>
            <a:ext cx="43159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触发条件与系统行为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58368" y="3255264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3255264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告警生成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478024" y="3255264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占用 ≥ 24h 生成告警，≥ 72h 升级为僵尸车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8368" y="3822192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3822192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通知车主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478024" y="3822192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判定僵尸车且识别出车牌；通知前补拍，最多 3 次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" y="4389120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" y="4389120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派单处置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478024" y="4389120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人工确认后派单并指定处理人，记录处理时间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58368" y="4956048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" y="4956048"/>
            <a:ext cx="1435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自动归档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478024" y="4956048"/>
            <a:ext cx="4315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车辆驶离车位即标记已处理，快照车牌与时间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58368" y="5522976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" y="5614416"/>
            <a:ext cx="6263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闭环设计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从发现、通知到归档全程留痕，首页只呈现待办，历史记录随时可追溯复盘。</a:t>
            </a:r>
            <a:endParaRPr lang="en-US" sz="1000" dirty="0"/>
          </a:p>
        </p:txBody>
      </p:sp>
      <p:pic>
        <p:nvPicPr>
          <p:cNvPr id="43" name="Image 0" descr="G:/All_Project/Trae_Project/Smart-Paring-Iot/Doc/软件界面/告警列表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pic>
        <p:nvPicPr>
          <p:cNvPr id="44" name="Image 1" descr="G:/All_Project/Trae_Project/Smart-Paring-Iot/Doc/软件界面/告警车处理详情页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sp>
        <p:nvSpPr>
          <p:cNvPr id="45" name="Text 40"/>
          <p:cNvSpPr/>
          <p:nvPr/>
        </p:nvSpPr>
        <p:spPr>
          <a:xfrm>
            <a:off x="7333488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告警列表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9592056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处理详情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故障诊断：把设备状态变成可读的表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诊断维度与数据来源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1682496"/>
            <a:ext cx="78638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1682496"/>
            <a:ext cx="18470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诊断维度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89504" y="1682496"/>
            <a:ext cx="30358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81344" y="1682496"/>
            <a:ext cx="22128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当前状态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" y="1993392"/>
            <a:ext cx="78638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" y="1993392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设备在线状态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889504" y="1993392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OneNET 设备列表接口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81344" y="199339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真实数据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2596896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6384" y="2596896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车位占用与时长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889504" y="2596896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物模型属性查询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1344" y="2596896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真实数据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8368" y="3200400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320040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网关门控状态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889504" y="3200400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网关 PGW001 的 OtaAllow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81344" y="3200400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真实数据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8368" y="3803904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6384" y="380390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电池电压 / 信号强度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889504" y="3803904"/>
            <a:ext cx="3035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节点上报属性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81344" y="3803904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1E8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真实数据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8368" y="4407408"/>
            <a:ext cx="78638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4626864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下一步优化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8368" y="5010912"/>
            <a:ext cx="91440" cy="9144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34" name="Text 31"/>
          <p:cNvSpPr/>
          <p:nvPr/>
        </p:nvSpPr>
        <p:spPr>
          <a:xfrm>
            <a:off x="859536" y="4919472"/>
            <a:ext cx="766267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设备属性查询由逐个串行改为并发批量，缩短首屏加载时间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58368" y="5614416"/>
            <a:ext cx="78638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设计取向   </a:t>
            </a:r>
            <a:pPr indent="0" marL="0">
              <a:buNone/>
            </a:pPr>
            <a:r>
              <a:rPr lang="en-US" sz="10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把「坏了才知道」变成「坏之前就能看见」，多数问题线上判断，免去现场奔波。</a:t>
            </a:r>
            <a:endParaRPr lang="en-US" sz="1000" dirty="0"/>
          </a:p>
        </p:txBody>
      </p:sp>
      <p:pic>
        <p:nvPicPr>
          <p:cNvPr id="36" name="Image 0" descr="G:/All_Project/Trae_Project/Smart-Paring-Iot/Doc/软件界面/故障诊断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1417320"/>
            <a:ext cx="1984248" cy="4315968"/>
          </a:xfrm>
          <a:prstGeom prst="roundRect">
            <a:avLst>
              <a:gd name="adj" fmla="val 4000"/>
            </a:avLst>
          </a:prstGeom>
        </p:spPr>
      </p:pic>
      <p:sp>
        <p:nvSpPr>
          <p:cNvPr id="37" name="Text 33"/>
          <p:cNvSpPr/>
          <p:nvPr/>
        </p:nvSpPr>
        <p:spPr>
          <a:xfrm>
            <a:off x="9125712" y="5788152"/>
            <a:ext cx="1984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故障诊断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软件端 · 应用展示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策略配置与 OTA：远程运维闭环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依据：Doc/APP开发文档.md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策略的两条下发路径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1645920"/>
            <a:ext cx="29672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平台策略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1938528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本地持久化，改动即时生效，不经设备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2395728"/>
            <a:ext cx="29672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告警阈值 · 派单等待 · 刷新间隔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检测 · 自动拍照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54780" y="1645920"/>
            <a:ext cx="29672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节点策略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54780" y="1938528"/>
            <a:ext cx="2967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需网关在线 → OneNET → LoRa → 节点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954780" y="2395728"/>
            <a:ext cx="29672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僵尸阈值 · 距离阈值 · 报警灯使能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90188" y="1664208"/>
            <a:ext cx="0" cy="137160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182112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310128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升级流程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58368" y="3602736"/>
            <a:ext cx="6263640" cy="310896"/>
          </a:xfrm>
          <a:prstGeom prst="rect">
            <a:avLst/>
          </a:prstGeom>
          <a:solidFill>
            <a:srgbClr val="F4F4EF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3602736"/>
            <a:ext cx="166420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06624" y="3602736"/>
            <a:ext cx="408736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实现方式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" y="3913632"/>
            <a:ext cx="6263640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391363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检测窗口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06624" y="3913632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启动时 1 次，随后按策略 5s × 9 次后自动停止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8368" y="4425696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442569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06624" y="4425696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待升级 → 下载中 → 升级中 → 成功 / 失败 / 取消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8368" y="4937760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6384" y="493776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实时进度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06624" y="4937760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圆环实时显示升级百分比，进度按已发送字节占比回传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58368" y="5449824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44982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弹窗防扰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706624" y="5449824"/>
            <a:ext cx="4087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动态标题加忽略列表，同一固件不重复提醒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58368" y="5961888"/>
            <a:ext cx="6263640" cy="0"/>
          </a:xfrm>
          <a:prstGeom prst="line">
            <a:avLst/>
          </a:prstGeom>
          <a:noFill/>
          <a:ln w="9525">
            <a:solidFill>
              <a:srgbClr val="EFEFEA"/>
            </a:solidFill>
            <a:prstDash val="solid"/>
          </a:ln>
        </p:spPr>
      </p:sp>
      <p:pic>
        <p:nvPicPr>
          <p:cNvPr id="36" name="Image 0" descr="G:/All_Project/Trae_Project/Smart-Paring-Iot/Doc/软件界面/策略配置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pic>
        <p:nvPicPr>
          <p:cNvPr id="37" name="Image 1" descr="G:/All_Project/Trae_Project/Smart-Paring-Iot/Doc/软件界面/OTA升级页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1444752"/>
            <a:ext cx="1938528" cy="4215384"/>
          </a:xfrm>
          <a:prstGeom prst="roundRect">
            <a:avLst>
              <a:gd name="adj" fmla="val 4000"/>
            </a:avLst>
          </a:prstGeom>
        </p:spPr>
      </p:pic>
      <p:sp>
        <p:nvSpPr>
          <p:cNvPr id="38" name="Text 33"/>
          <p:cNvSpPr/>
          <p:nvPr/>
        </p:nvSpPr>
        <p:spPr>
          <a:xfrm>
            <a:off x="7333488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策略配置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9592056" y="5733288"/>
            <a:ext cx="19385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升级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 · 语音交互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语音助手：把操作从点按变成对话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依据：Mcp_Tool/parking_mcp_server.py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71600"/>
            <a:ext cx="5760720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后台能力被封成工具，一句话就能调用。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2103120"/>
            <a:ext cx="57607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「各个车位的情况怎么样？」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50976" y="2560320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个空闲、3 个正在停车、2 个僵尸车，整体利用率 71%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3145536"/>
            <a:ext cx="576072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401568"/>
            <a:ext cx="57607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「哪些是僵尸车位？」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50976" y="3858768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号和 7 号车位判定为僵尸车，已停超 72 小时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" y="4443984"/>
            <a:ext cx="576072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700016"/>
            <a:ext cx="57607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「5 号车位停了多久？」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50976" y="5157216"/>
            <a:ext cx="5468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号车位已占用 4 小时 12 分钟，状态正常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" y="5705856"/>
            <a:ext cx="5760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让语音不加耦合地调用后台能力，新增功能只需再注册一个工具。</a:t>
            </a:r>
            <a:endParaRPr lang="en-US" sz="1100" dirty="0"/>
          </a:p>
        </p:txBody>
      </p:sp>
      <p:pic>
        <p:nvPicPr>
          <p:cNvPr id="20" name="Image 0" descr="G:/All_Project/Trae_Project/Smart-Paring-Iot/Doc/硬件资料/语音助手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4344" y="2011680"/>
            <a:ext cx="4206240" cy="3154680"/>
          </a:xfrm>
          <a:prstGeom prst="roundRect">
            <a:avLst>
              <a:gd name="adj" fmla="val 4000"/>
            </a:avLst>
          </a:prstGeom>
        </p:spPr>
      </p:pic>
      <p:sp>
        <p:nvSpPr>
          <p:cNvPr id="21" name="Text 17"/>
          <p:cNvSpPr/>
          <p:nvPr/>
        </p:nvSpPr>
        <p:spPr>
          <a:xfrm>
            <a:off x="7324344" y="5202936"/>
            <a:ext cx="4206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语音助手实物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 · 车牌取证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摄像头：车牌识别与现场留证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依据：Doc/硬件资料/百度官方api文档.md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38988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僵尸车判定之后自动拍照，把「发现」变成可举证的记录。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" y="2377440"/>
            <a:ext cx="6858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触发式拍照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270662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由僵尸车判定触发，拍照结果随告警一并上报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" y="3474720"/>
            <a:ext cx="6858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车牌识别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" y="380390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接入百度车牌识别接口，返回车牌号、车牌颜色与识别置信度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4572000"/>
            <a:ext cx="68580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现场留证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8368" y="490118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照片与识别结果随告警归档，处置时可直接作为依据</a:t>
            </a:r>
            <a:endParaRPr lang="en-US" sz="1100" dirty="0"/>
          </a:p>
        </p:txBody>
      </p:sp>
      <p:pic>
        <p:nvPicPr>
          <p:cNvPr id="17" name="Image 0" descr="G:/All_Project/Trae_Project/Smart-Paring-Iot/Doc/硬件资料/摄像头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4" y="2048256"/>
            <a:ext cx="3108960" cy="3108960"/>
          </a:xfrm>
          <a:prstGeom prst="roundRect">
            <a:avLst>
              <a:gd name="adj" fmla="val 4000"/>
            </a:avLst>
          </a:prstGeom>
        </p:spPr>
      </p:pic>
      <p:sp>
        <p:nvSpPr>
          <p:cNvPr id="18" name="Text 14"/>
          <p:cNvSpPr/>
          <p:nvPr/>
        </p:nvSpPr>
        <p:spPr>
          <a:xfrm>
            <a:off x="8421624" y="5193792"/>
            <a:ext cx="31089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摄像头实物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难点攻关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三个真实工程难点，我们逐个击破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 · OTA升级可靠性优化方案.md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426464"/>
            <a:ext cx="3520440" cy="44256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" y="1536192"/>
            <a:ext cx="45720" cy="4206240"/>
          </a:xfrm>
          <a:prstGeom prst="rect">
            <a:avLst/>
          </a:prstGeom>
          <a:solidFill>
            <a:srgbClr val="0F62D6"/>
          </a:solidFill>
          <a:ln/>
        </p:spPr>
      </p:sp>
      <p:sp>
        <p:nvSpPr>
          <p:cNvPr id="12" name="Shape 9"/>
          <p:cNvSpPr/>
          <p:nvPr/>
        </p:nvSpPr>
        <p:spPr>
          <a:xfrm>
            <a:off x="877824" y="1572768"/>
            <a:ext cx="420624" cy="420624"/>
          </a:xfrm>
          <a:prstGeom prst="ellipse">
            <a:avLst/>
          </a:prstGeom>
          <a:solidFill>
            <a:srgbClr val="0F62D6"/>
          </a:solidFill>
          <a:ln/>
        </p:spPr>
      </p:sp>
      <p:sp>
        <p:nvSpPr>
          <p:cNvPr id="13" name="Text 10"/>
          <p:cNvSpPr/>
          <p:nvPr/>
        </p:nvSpPr>
        <p:spPr>
          <a:xfrm>
            <a:off x="877824" y="15727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53312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01 · 通信可靠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353312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LoRa 分包丢失 + MQTT 假死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7824" y="2340864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77824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长帧分片后 CRC 校验失败即整包丢弃；MQTT 30s keepalive 后 60s 判死，连接假死无感知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77824" y="3639312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77824" y="3858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消费式解析：每收到一分片立即校验，独立 ACK；改心跳为双阈值：30s 无数据报警，60s 无响应重启连接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9808" y="4992624"/>
            <a:ext cx="3337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F62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992624"/>
            <a:ext cx="3081528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通信成功率 99.9%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43400" y="1426464"/>
            <a:ext cx="3520440" cy="44256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61688" y="1536192"/>
            <a:ext cx="45720" cy="4206240"/>
          </a:xfrm>
          <a:prstGeom prst="rect">
            <a:avLst/>
          </a:prstGeom>
          <a:solidFill>
            <a:srgbClr val="B07419"/>
          </a:solidFill>
          <a:ln/>
        </p:spPr>
      </p:sp>
      <p:sp>
        <p:nvSpPr>
          <p:cNvPr id="24" name="Shape 21"/>
          <p:cNvSpPr/>
          <p:nvPr/>
        </p:nvSpPr>
        <p:spPr>
          <a:xfrm>
            <a:off x="4562856" y="1572768"/>
            <a:ext cx="420624" cy="420624"/>
          </a:xfrm>
          <a:prstGeom prst="ellipse">
            <a:avLst/>
          </a:prstGeom>
          <a:solidFill>
            <a:srgbClr val="B07419"/>
          </a:solidFill>
          <a:ln/>
        </p:spPr>
      </p:sp>
      <p:sp>
        <p:nvSpPr>
          <p:cNvPr id="25" name="Text 22"/>
          <p:cNvSpPr/>
          <p:nvPr/>
        </p:nvSpPr>
        <p:spPr>
          <a:xfrm>
            <a:off x="4562856" y="15727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38344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02 · 内存稳定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38344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cJSON 泄漏 + AT 重连死循环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62856" y="2340864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62856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cJSON 解析后未释放内存，多次命令后堆耗尽；AT 指令失败后无限重试，卡死不走其他逻辑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62856" y="3639312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62856" y="3858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响应式释放：解析后立即释放中间 Buffer；AT 重试改为有限重试（3 次 + 退避），超限走重启恢复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34840" y="4992624"/>
            <a:ext cx="3337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0741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62856" y="4992624"/>
            <a:ext cx="3081528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连续运行 30 天无内存泄漏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28432" y="1426464"/>
            <a:ext cx="3520440" cy="44256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D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46720" y="1536192"/>
            <a:ext cx="45720" cy="4206240"/>
          </a:xfrm>
          <a:prstGeom prst="rect">
            <a:avLst/>
          </a:prstGeom>
          <a:solidFill>
            <a:srgbClr val="B23A34"/>
          </a:solidFill>
          <a:ln/>
        </p:spPr>
      </p:sp>
      <p:sp>
        <p:nvSpPr>
          <p:cNvPr id="36" name="Shape 33"/>
          <p:cNvSpPr/>
          <p:nvPr/>
        </p:nvSpPr>
        <p:spPr>
          <a:xfrm>
            <a:off x="8247888" y="1572768"/>
            <a:ext cx="420624" cy="420624"/>
          </a:xfrm>
          <a:prstGeom prst="ellipse">
            <a:avLst/>
          </a:prstGeom>
          <a:solidFill>
            <a:srgbClr val="B23A34"/>
          </a:solidFill>
          <a:ln/>
        </p:spPr>
      </p:sp>
      <p:sp>
        <p:nvSpPr>
          <p:cNvPr id="37" name="Text 34"/>
          <p:cNvSpPr/>
          <p:nvPr/>
        </p:nvSpPr>
        <p:spPr>
          <a:xfrm>
            <a:off x="8247888" y="1572768"/>
            <a:ext cx="420624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723376" y="1554480"/>
            <a:ext cx="2606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难点 03 · 升级可靠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723376" y="1810512"/>
            <a:ext cx="26060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OTA 断电变砖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47888" y="2340864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247888" y="2560320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升级中途掉电，新固件不完整导致设备无法启动，传统方案变砖需返厂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247888" y="3639312"/>
            <a:ext cx="3081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解法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8247888" y="3858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BootLoader 校验 + 两阶段提交：先完整下载并校验 CRC32，再擦写 APP 区；断电可回退旧固件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119872" y="4992624"/>
            <a:ext cx="3337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23A3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47888" y="4992624"/>
            <a:ext cx="3081528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23A3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变砖，自愈成功率 100%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65760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2D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结论与展望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03504"/>
            <a:ext cx="108722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1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一套端到端的僵尸车治理闭环，预留清晰扩展路径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36208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309360"/>
            <a:ext cx="5120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僵尸车智能治理系统 · 项目汇报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67728" y="6309360"/>
            <a:ext cx="383133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0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依据：Doc/系统设计文档.md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99064" y="6309360"/>
            <a:ext cx="73152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444752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1773936"/>
            <a:ext cx="104333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项目围绕老旧小区僵尸车治理，完成了从感知、传输、判定到取证、处置的全链路自研闭环，不依赖外部商业平台。硬件端以地磁与超声波双传感器融合，配合网关零碰撞通信协议与多级中继，解决密集部署下的丢包与冲突；软件端以三因子 AND 判定抑制误报，以指数退避维护离线节点的判定连续性。单点成本约 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 元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，半天即可完成 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个点位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部署，老旧小区无需破路施工。实验室与实地测试显示，通信成功率与识别准确率在复杂环境下略有下降但整体稳定，方案已具备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规模化落地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639312"/>
            <a:ext cx="10872216" cy="0"/>
          </a:xfrm>
          <a:prstGeom prst="line">
            <a:avLst/>
          </a:prstGeom>
          <a:noFill/>
          <a:ln w="12700">
            <a:solidFill>
              <a:srgbClr val="E3E3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803904"/>
            <a:ext cx="10872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B4A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" y="4133088"/>
            <a:ext cx="1043330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后续将沿四个方向继续推进。一是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场景复用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，把违停、占道、设备巡检等同类治理需求直接迁移到现有平台，无需重复开发；二是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平台对接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，开放标准接口与城市停车管理平台打通，让治理数据进入更大的管理视图；三是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组网扩展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，通过多网关 Mesh 组网把覆盖能力从单网关 16 个节点扩展到 1000 个以上检测点的大型设施；四是</a:t>
            </a:r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B0741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零取电方案</a:t>
            </a:r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33373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，引入地磁加太阳能的组合，让节点彻底摆脱取电约束，进一步降低部署门槛与运维成本。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僵尸车智能治理系统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僵尸车智能治理系统 · 项目汇报</dc:title>
  <dc:subject>选题背景、系统方案与核心功能</dc:subject>
  <dc:creator>僵尸车智能治理系统项目组</dc:creator>
  <cp:lastModifiedBy>僵尸车智能治理系统项目组</cp:lastModifiedBy>
  <cp:revision>1</cp:revision>
  <dcterms:created xsi:type="dcterms:W3CDTF">2026-09-17T06:41:51Z</dcterms:created>
  <dcterms:modified xsi:type="dcterms:W3CDTF">2026-09-17T06:41:51Z</dcterms:modified>
</cp:coreProperties>
</file>