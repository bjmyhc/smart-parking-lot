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15 秒：各位老师好，我的毕业设计题目是「基于 LoRa 的僵尸车监测系统的设计与实现」。下面从应用场景、痛点、硬件方案和软件功能四个方面汇报。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秒。左边新闻实拍：僵尸车长期霸占车位。右边上方是问题规模，下方是造成的损失——停车难加剧、消防隐患、环境污染。这不是个案，是全国普遍现象。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秒。逐条念：痛点一句话，箭头后是解决方案。核心是第四条——从被动巡查变成主动预警。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秒。从左到右画一遍链路：节点采集 → LoRa 上报 → 网关汇聚 → MQTT 代报 → 云端管理 → APP / 语音终端。每个节点的关键模块标在框内。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秒。快速过一遍六项功能，每张卡一句话带过。重点提三因子判定和 OTA 断电自愈。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 10 秒：感谢各位老师聆听，敬请批评指正。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108722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16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毕业设计 · 开题答辩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545836" y="2596896"/>
            <a:ext cx="1097280" cy="3657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2834640"/>
            <a:ext cx="10872216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LoRa 的僵尸车监测系统的设计与实现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3749040"/>
            <a:ext cx="10872216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STM32F103 + LoRa 433MHz + 超声波 + 地磁 + OneNET 云平台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2221" y="4315968"/>
            <a:ext cx="982980" cy="347472"/>
          </a:xfrm>
          <a:prstGeom prst="roundRect">
            <a:avLst>
              <a:gd name="adj" fmla="val 15789"/>
            </a:avLst>
          </a:prstGeom>
          <a:solidFill>
            <a:srgbClr val="EDF3FD"/>
          </a:solidFill>
          <a:ln w="9525">
            <a:solidFill>
              <a:srgbClr val="0F6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2221" y="4315968"/>
            <a:ext cx="9829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STM32F103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03217" y="4315968"/>
            <a:ext cx="1100328" cy="347472"/>
          </a:xfrm>
          <a:prstGeom prst="roundRect">
            <a:avLst>
              <a:gd name="adj" fmla="val 15789"/>
            </a:avLst>
          </a:prstGeom>
          <a:solidFill>
            <a:srgbClr val="EDF3FD"/>
          </a:solidFill>
          <a:ln w="9525">
            <a:solidFill>
              <a:srgbClr val="0F6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3217" y="4315968"/>
            <a:ext cx="1100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433MHz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31561" y="4315968"/>
            <a:ext cx="710946" cy="347472"/>
          </a:xfrm>
          <a:prstGeom prst="roundRect">
            <a:avLst>
              <a:gd name="adj" fmla="val 15789"/>
            </a:avLst>
          </a:prstGeom>
          <a:solidFill>
            <a:srgbClr val="EDF3FD"/>
          </a:solidFill>
          <a:ln w="9525">
            <a:solidFill>
              <a:srgbClr val="0F6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31561" y="4315968"/>
            <a:ext cx="71094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70523" y="4315968"/>
            <a:ext cx="577596" cy="347472"/>
          </a:xfrm>
          <a:prstGeom prst="roundRect">
            <a:avLst>
              <a:gd name="adj" fmla="val 15789"/>
            </a:avLst>
          </a:prstGeom>
          <a:solidFill>
            <a:srgbClr val="EDF3FD"/>
          </a:solidFill>
          <a:ln w="9525">
            <a:solidFill>
              <a:srgbClr val="0F6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0523" y="4315968"/>
            <a:ext cx="57759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76135" y="4315968"/>
            <a:ext cx="758952" cy="347472"/>
          </a:xfrm>
          <a:prstGeom prst="roundRect">
            <a:avLst>
              <a:gd name="adj" fmla="val 15789"/>
            </a:avLst>
          </a:prstGeom>
          <a:solidFill>
            <a:srgbClr val="EDF3FD"/>
          </a:solidFill>
          <a:ln w="9525">
            <a:solidFill>
              <a:srgbClr val="0F6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6135" y="4315968"/>
            <a:ext cx="7589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OneNET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63103" y="4315968"/>
            <a:ext cx="833628" cy="347472"/>
          </a:xfrm>
          <a:prstGeom prst="roundRect">
            <a:avLst>
              <a:gd name="adj" fmla="val 15789"/>
            </a:avLst>
          </a:prstGeom>
          <a:solidFill>
            <a:srgbClr val="EDF3FD"/>
          </a:solidFill>
          <a:ln w="9525">
            <a:solidFill>
              <a:srgbClr val="0F6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3103" y="4315968"/>
            <a:ext cx="8336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Flutter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5212080"/>
            <a:ext cx="108722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答辩人：____________　·　指导教师：____________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5577840"/>
            <a:ext cx="108722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9 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僵尸车长期占用停车位，城市小区治理顽疾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图片来源：西江日报 · 澎湃新闻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pic>
        <p:nvPicPr>
          <p:cNvPr id="10" name="Image 0" descr="G:/All_Project/Trae_Project/Smart-Paring-Iot/Doc/硬件资料/新闻图1-小区僵尸车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26464"/>
            <a:ext cx="2880360" cy="2160810"/>
          </a:xfrm>
          <a:prstGeom prst="roundRect">
            <a:avLst>
              <a:gd name="adj" fmla="val 4000"/>
            </a:avLst>
          </a:prstGeom>
        </p:spPr>
      </p:pic>
      <p:pic>
        <p:nvPicPr>
          <p:cNvPr id="11" name="Image 1" descr="G:/All_Project/Trae_Project/Smart-Paring-Iot/Doc/硬件资料/新闻图3-枯枝败叶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660426"/>
            <a:ext cx="2880360" cy="2160810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Text 7"/>
          <p:cNvSpPr/>
          <p:nvPr/>
        </p:nvSpPr>
        <p:spPr>
          <a:xfrm>
            <a:off x="658368" y="5821236"/>
            <a:ext cx="28803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小区内僵尸车实拍（2023 年肇庆）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4846320" y="1371600"/>
            <a:ext cx="6684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废弃车辆长期停放，无人认领、无人清理，占用公共停车资源。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846320" y="1901952"/>
            <a:ext cx="66842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问题规模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846320" y="2176272"/>
            <a:ext cx="9144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50+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5852160" y="2194560"/>
            <a:ext cx="5678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一个停车场可趴着 50 多辆（北京天通苑）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846320" y="2779776"/>
            <a:ext cx="9144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年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852160" y="2798064"/>
            <a:ext cx="5678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一辆僵尸车可占车位长达 7 年（上海虹鹿花苑）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846320" y="3383280"/>
            <a:ext cx="9144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400+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5852160" y="3401568"/>
            <a:ext cx="5678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单个小区可清理出 400 余辆（上海屹立家园）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846320" y="4096512"/>
            <a:ext cx="66842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造成损失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882896" y="4425696"/>
            <a:ext cx="292608" cy="292608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23" name="Text 18"/>
          <p:cNvSpPr/>
          <p:nvPr/>
        </p:nvSpPr>
        <p:spPr>
          <a:xfrm>
            <a:off x="4882896" y="442569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285232" y="4407408"/>
            <a:ext cx="62453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停车位被长期占用，居民停车难雪上加霜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882896" y="4882896"/>
            <a:ext cx="292608" cy="292608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26" name="Text 21"/>
          <p:cNvSpPr/>
          <p:nvPr/>
        </p:nvSpPr>
        <p:spPr>
          <a:xfrm>
            <a:off x="4882896" y="488289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险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285232" y="4864608"/>
            <a:ext cx="62453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堵塞消防通道，存在安全隐患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882896" y="5340096"/>
            <a:ext cx="292608" cy="292608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29" name="Text 24"/>
          <p:cNvSpPr/>
          <p:nvPr/>
        </p:nvSpPr>
        <p:spPr>
          <a:xfrm>
            <a:off x="4882896" y="534009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污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285232" y="5321808"/>
            <a:ext cx="62453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机油泄漏、杂物堆积，污染小区环境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846320" y="5815584"/>
            <a:ext cx="66842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新闻来源 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央视网 / 人民网 / 澎湃新闻 / 西江日报，2023–2025 年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解决痛点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现有治理方式的四大痛点，本项目逐一解决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463040"/>
            <a:ext cx="5285232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1572768"/>
            <a:ext cx="45720" cy="74980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1609344"/>
            <a:ext cx="365760" cy="365760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1609344"/>
            <a:ext cx="3657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16736" y="1572768"/>
            <a:ext cx="44074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靠物业定期巡查，发现滞后且人力成本高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16736" y="1901952"/>
            <a:ext cx="44074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三因子自动监测，7×24 不间断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9904" y="1463040"/>
            <a:ext cx="5285232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08192" y="1572768"/>
            <a:ext cx="45720" cy="74980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8" name="Shape 15"/>
          <p:cNvSpPr/>
          <p:nvPr/>
        </p:nvSpPr>
        <p:spPr>
          <a:xfrm>
            <a:off x="6291072" y="1609344"/>
            <a:ext cx="365760" cy="365760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19" name="Text 16"/>
          <p:cNvSpPr/>
          <p:nvPr/>
        </p:nvSpPr>
        <p:spPr>
          <a:xfrm>
            <a:off x="6291072" y="1609344"/>
            <a:ext cx="3657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迟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48272" y="1572768"/>
            <a:ext cx="44074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往往停放数月才发现，车位长期被占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48272" y="1901952"/>
            <a:ext cx="44074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超阈值即刻告警，24h 内发现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58368" y="2706624"/>
            <a:ext cx="5285232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" y="2816352"/>
            <a:ext cx="45720" cy="74980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9536" y="2852928"/>
            <a:ext cx="365760" cy="365760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25" name="Text 22"/>
          <p:cNvSpPr/>
          <p:nvPr/>
        </p:nvSpPr>
        <p:spPr>
          <a:xfrm>
            <a:off x="859536" y="2852928"/>
            <a:ext cx="3657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16736" y="2816352"/>
            <a:ext cx="44074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人工拍照缺时间戳，处置时证据不足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316736" y="3145536"/>
            <a:ext cx="44074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自动拍照 + 车牌识别，随告警归档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89904" y="2706624"/>
            <a:ext cx="5285232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08192" y="2816352"/>
            <a:ext cx="45720" cy="74980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30" name="Shape 27"/>
          <p:cNvSpPr/>
          <p:nvPr/>
        </p:nvSpPr>
        <p:spPr>
          <a:xfrm>
            <a:off x="6291072" y="2852928"/>
            <a:ext cx="365760" cy="365760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1" name="Text 28"/>
          <p:cNvSpPr/>
          <p:nvPr/>
        </p:nvSpPr>
        <p:spPr>
          <a:xfrm>
            <a:off x="6291072" y="2852928"/>
            <a:ext cx="3657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748272" y="2816352"/>
            <a:ext cx="44074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物业城管交管数据不互通，流程脱节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748272" y="3145536"/>
            <a:ext cx="44074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云平台统一管理，全链路打通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58368" y="5632704"/>
            <a:ext cx="10872216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核心价值  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把被动巡查变成主动预警，从发现到处置全链路自动化。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硬件方案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 → 网关 → 云端 → 终端，四层拓扑架构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16736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硬件拓扑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1828800"/>
            <a:ext cx="2395728" cy="301752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9050">
            <a:solidFill>
              <a:srgbClr val="0F62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828800"/>
            <a:ext cx="2395728" cy="438912"/>
          </a:xfrm>
          <a:prstGeom prst="roundRect">
            <a:avLst>
              <a:gd name="adj" fmla="val 20833"/>
            </a:avLst>
          </a:prstGeom>
          <a:solidFill>
            <a:srgbClr val="0F62D6"/>
          </a:solidFill>
          <a:ln w="19050">
            <a:solidFill>
              <a:srgbClr val="0F62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828800"/>
            <a:ext cx="23957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" y="245059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STM32F103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1248" y="281635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HC-SR04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" y="318211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HMC5883L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1248" y="354787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SX1278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" y="391363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1248" y="427939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2000mAh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47288" y="1828800"/>
            <a:ext cx="2395728" cy="301752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9050">
            <a:solidFill>
              <a:srgbClr val="B0741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47288" y="1828800"/>
            <a:ext cx="2395728" cy="438912"/>
          </a:xfrm>
          <a:prstGeom prst="roundRect">
            <a:avLst>
              <a:gd name="adj" fmla="val 20833"/>
            </a:avLst>
          </a:prstGeom>
          <a:solidFill>
            <a:srgbClr val="B07419"/>
          </a:solidFill>
          <a:ln w="19050">
            <a:solidFill>
              <a:srgbClr val="B0741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47288" y="1828800"/>
            <a:ext cx="23957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630168" y="245059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ESP8266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30168" y="281635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SX1278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30168" y="318211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OLED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30168" y="354787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CRC16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30168" y="391363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轮询点名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630168" y="427939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MQTT 代上报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236208" y="1828800"/>
            <a:ext cx="2395728" cy="301752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36208" y="1828800"/>
            <a:ext cx="2395728" cy="438912"/>
          </a:xfrm>
          <a:prstGeom prst="roundRect">
            <a:avLst>
              <a:gd name="adj" fmla="val 20833"/>
            </a:avLst>
          </a:prstGeom>
          <a:solidFill>
            <a:srgbClr val="1E8A5F"/>
          </a:solidFill>
          <a:ln w="19050">
            <a:solidFill>
              <a:srgbClr val="1E8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36208" y="1828800"/>
            <a:ext cx="23957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云平台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19088" y="245059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OneNET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19088" y="281635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物模型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19088" y="318211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分发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19088" y="354787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命令下发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19088" y="391363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 API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025128" y="1828800"/>
            <a:ext cx="2395728" cy="301752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9050">
            <a:solidFill>
              <a:srgbClr val="B23A3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025128" y="1828800"/>
            <a:ext cx="2395728" cy="438912"/>
          </a:xfrm>
          <a:prstGeom prst="roundRect">
            <a:avLst>
              <a:gd name="adj" fmla="val 20833"/>
            </a:avLst>
          </a:prstGeom>
          <a:solidFill>
            <a:srgbClr val="B23A34"/>
          </a:solidFill>
          <a:ln w="19050">
            <a:solidFill>
              <a:srgbClr val="B23A3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025128" y="1828800"/>
            <a:ext cx="23957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208008" y="245059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Flutter APP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208008" y="2816352"/>
            <a:ext cx="202996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语音助手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054096" y="3337560"/>
            <a:ext cx="3931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43" name="Text 40"/>
          <p:cNvSpPr/>
          <p:nvPr/>
        </p:nvSpPr>
        <p:spPr>
          <a:xfrm>
            <a:off x="3054096" y="3063240"/>
            <a:ext cx="39319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43016" y="3337560"/>
            <a:ext cx="3931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45" name="Text 42"/>
          <p:cNvSpPr/>
          <p:nvPr/>
        </p:nvSpPr>
        <p:spPr>
          <a:xfrm>
            <a:off x="5843016" y="3063240"/>
            <a:ext cx="39319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MQTT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631936" y="3337560"/>
            <a:ext cx="3931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47" name="Text 44"/>
          <p:cNvSpPr/>
          <p:nvPr/>
        </p:nvSpPr>
        <p:spPr>
          <a:xfrm>
            <a:off x="8631936" y="3063240"/>
            <a:ext cx="39319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58368" y="5084064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设计要点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658368" y="5340096"/>
            <a:ext cx="1087221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节点用两种传感器交叉验证，误报率降至 3% 以下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58368" y="5577840"/>
            <a:ext cx="1087221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433MHz 半双工轮询，网关点名→节点应答，天然防碰撞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658368" y="5815584"/>
            <a:ext cx="1087221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网关代所有节点 MQTT 上报，节点不含 WiFi，降低功耗与成本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658368" y="6053328"/>
            <a:ext cx="1087221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单节点续航 6 个月，免布线，老旧小区零施工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软件功能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 + 语音助手 + OTA，软件功能覆盖全链路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426464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591056"/>
            <a:ext cx="402336" cy="40233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591056"/>
            <a:ext cx="40233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1572768"/>
            <a:ext cx="25877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三因子融合判定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71600" y="1901952"/>
            <a:ext cx="25877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超声波地磁时间阈值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1426464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44568" y="1591056"/>
            <a:ext cx="402336" cy="40233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17" name="Text 14"/>
          <p:cNvSpPr/>
          <p:nvPr/>
        </p:nvSpPr>
        <p:spPr>
          <a:xfrm>
            <a:off x="4544568" y="1591056"/>
            <a:ext cx="40233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56632" y="1572768"/>
            <a:ext cx="25877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车位实时查询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56632" y="1901952"/>
            <a:ext cx="25877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空闲占用僵尸一览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28432" y="1426464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0" y="1591056"/>
            <a:ext cx="402336" cy="40233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0" y="1591056"/>
            <a:ext cx="40233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警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741664" y="1572768"/>
            <a:ext cx="25877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告警推送处置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41664" y="1901952"/>
            <a:ext cx="25877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三秒推送闭环处置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8368" y="2889504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9536" y="3054096"/>
            <a:ext cx="402336" cy="40233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27" name="Text 24"/>
          <p:cNvSpPr/>
          <p:nvPr/>
        </p:nvSpPr>
        <p:spPr>
          <a:xfrm>
            <a:off x="859536" y="3054096"/>
            <a:ext cx="40233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71600" y="3035808"/>
            <a:ext cx="25877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设备故障诊断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371600" y="3364992"/>
            <a:ext cx="25877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电压信号实时上报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343400" y="2889504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44568" y="3054096"/>
            <a:ext cx="402336" cy="40233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2" name="Text 29"/>
          <p:cNvSpPr/>
          <p:nvPr/>
        </p:nvSpPr>
        <p:spPr>
          <a:xfrm>
            <a:off x="4544568" y="3054096"/>
            <a:ext cx="40233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056632" y="3035808"/>
            <a:ext cx="25877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远程固件升级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56632" y="3364992"/>
            <a:ext cx="25877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两阶段断电自愈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028432" y="2889504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229600" y="3054096"/>
            <a:ext cx="402336" cy="40233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7" name="Text 34"/>
          <p:cNvSpPr/>
          <p:nvPr/>
        </p:nvSpPr>
        <p:spPr>
          <a:xfrm>
            <a:off x="8229600" y="3054096"/>
            <a:ext cx="40233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741664" y="3035808"/>
            <a:ext cx="25877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语音助手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741664" y="3364992"/>
            <a:ext cx="25877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自然语言查询车位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58368" y="5650992"/>
            <a:ext cx="108722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   </a:t>
            </a:r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STM32 裸机 C + ESP8266 Arduino + OneNET Studio + Flutter Dart + Python MCP Server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0"/>
            <a:ext cx="10872216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362956" y="3657600"/>
            <a:ext cx="1463040" cy="3657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3877056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敬请斧正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5120640"/>
            <a:ext cx="108722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答辩人：____________　·　2026 年 9 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僵尸车智能治理系统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LoRa 的僵尸车监测系统 · 开题答辩</dc:title>
  <dc:subject>开题答辩</dc:subject>
  <dc:creator>僵尸车智能治理系统项目组</dc:creator>
  <cp:lastModifiedBy>僵尸车智能治理系统项目组</cp:lastModifiedBy>
  <cp:revision>1</cp:revision>
  <dcterms:created xsi:type="dcterms:W3CDTF">2026-09-21T11:39:02Z</dcterms:created>
  <dcterms:modified xsi:type="dcterms:W3CDTF">2026-09-21T11:39:02Z</dcterms:modified>
</cp:coreProperties>
</file>