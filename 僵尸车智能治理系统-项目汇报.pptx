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秒：一句话点题——从传感器到云端、从硬件到 App 全覆盖的僵尸车智能治理系统；选题聚焦城市僵尸车治理链条中最薄弱的发现环节，用 IoT 技术把被动巡查变成主动预警。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秒。上方四卡讲为什么难（治理痛点），下方数据看板讲市场为什么值得做。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秒。左侧传统方法 vs 本项目方法对比，右侧列出本项目四个核心创新点。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秒。先走一遍五层链路，再点出核心逻辑。这一页是全场技术叙事的地图，后面的功能页都从这张图上展开。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秒。上半部分讲通信链路三步流程，中部讲三个可靠性设计，底部数字佐证。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秒。顶部大数字总览，中部三卡讲判定逻辑与低功耗设计，底部一句话总结差异化。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秒。三栏分别对应通信可靠性、内存稳定性和升级可靠性三个核心难题。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秒。首页是用户第一眼看到的界面，汇总全场景数据。左侧讲首页承载的核心信息，右侧展示真实截图。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秒。数据中心把传感器原始数据汇聚成可决策的统计视图，支撑长时间趋势分析。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秒。左图是车位列表总览，右图点开后进入单车位详情——占用时长、传感器读数、处置按钮一应俱全。这里展示二级导航的连贯体验。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秒。左图是告警列表，按严重程度与时间排序；右图是单条告警的处理详情页——车辆信息、现场照片、处置记录完整呈现，形成执法闭环。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秒。故障诊断页让运维人员无需到场即可判断设备状态——电池电压、信号强度、最近心跳一目了然，把"坏了才知道"变成"坏之前就知道"。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秒。左图是策略配置页——判定阈值、拍照参数、告警规则本地持久化，改一处全网生效；右图是 OTA 升级页，进度可视化、断点续传、失败自动回退，运维零到场。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秒。上方大数字看板展示六项核心指标，下方左右对比实验室与实地表现。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秒。先三卡总结项目价值，再四个扩展方向，最后一句话收束。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1816" y="1463040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97696" y="1463040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23576" y="1463040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71816" y="2496312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696" y="2496312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23576" y="2496312"/>
            <a:ext cx="1207008" cy="914400"/>
          </a:xfrm>
          <a:prstGeom prst="rect">
            <a:avLst/>
          </a:prstGeom>
          <a:solidFill>
            <a:srgbClr val="F5F5F0"/>
          </a:solidFill>
          <a:ln w="12700">
            <a:solidFill>
              <a:srgbClr val="EAE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04288"/>
            <a:ext cx="45720" cy="129844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12848"/>
            <a:ext cx="6400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省级物联网大赛 · 项目汇报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505456"/>
            <a:ext cx="6858000" cy="8595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59536" y="3401568"/>
            <a:ext cx="9509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STM32 + LoRa + OneNET 的僵尸车自动发现与取证闭环方案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3730752"/>
            <a:ext cx="10424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 裸机节点 · 自研 BootLoader OTA · LoRa 私有轮询协议 · ESP8266 网关 · OneNET Studio · Flutter App · MCP 语音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" y="4206240"/>
            <a:ext cx="9829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206240"/>
            <a:ext cx="9829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70532" y="4206240"/>
            <a:ext cx="11003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70532" y="4206240"/>
            <a:ext cx="1100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98876" y="4206240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98876" y="4206240"/>
            <a:ext cx="1143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ESP8266 网关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9892" y="4206240"/>
            <a:ext cx="1249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9892" y="4206240"/>
            <a:ext cx="12496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Studio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47588" y="4206240"/>
            <a:ext cx="11003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7588" y="4206240"/>
            <a:ext cx="1100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75932" y="4206240"/>
            <a:ext cx="84429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5932" y="4206240"/>
            <a:ext cx="8442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语音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" y="5797296"/>
            <a:ext cx="4572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汇报人：____________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58584" y="5797296"/>
            <a:ext cx="4572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9 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选题背景与市场前景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四大短板制约治理，IoT 自动化方案具备规模化潜力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公安部道交研究中心 2022；公开政务数据 2024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527608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426464"/>
            <a:ext cx="45720" cy="146304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554480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53312" y="1554480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发现靠人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" y="1865376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依赖人工巡查与群众举报，遗漏率高，僵尸车长期潜伏无人知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54496" y="1426464"/>
            <a:ext cx="527608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26464"/>
            <a:ext cx="45720" cy="1463040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17" name="Text 14"/>
          <p:cNvSpPr/>
          <p:nvPr/>
        </p:nvSpPr>
        <p:spPr>
          <a:xfrm>
            <a:off x="6455664" y="1554480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49440" y="1554480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认定无标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55664" y="1865376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道路交通安全法仅禁止违停，未界定僵尸车，各地标准不一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8368" y="3209544"/>
            <a:ext cx="527608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209544"/>
            <a:ext cx="45720" cy="1463040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" y="3337560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53312" y="3337560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主体不清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" y="3648456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物业、城管、交管职责交叉，无统筹机制，推诿扯皮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54496" y="3209544"/>
            <a:ext cx="5276088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54496" y="3209544"/>
            <a:ext cx="45720" cy="14630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7" name="Text 24"/>
          <p:cNvSpPr/>
          <p:nvPr/>
        </p:nvSpPr>
        <p:spPr>
          <a:xfrm>
            <a:off x="6455664" y="3337560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49440" y="3337560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处置无门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55664" y="3648456"/>
            <a:ext cx="4892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3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报废需车主配合，公示 1 年方可收归国有，车主不配合则搁置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58368" y="3255264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市场规模与治理需求（数据来源：公开政务统计）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58368" y="3584448"/>
            <a:ext cx="26289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3675888"/>
            <a:ext cx="262890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600+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658368" y="4462272"/>
            <a:ext cx="2628900" cy="468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全国城市存量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僵尸车超 600 万辆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406140" y="3584448"/>
            <a:ext cx="26289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06140" y="3675888"/>
            <a:ext cx="262890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167 亿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3406140" y="4462272"/>
            <a:ext cx="2628900" cy="468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年占用公共车位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造成的经济损失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153912" y="3584448"/>
            <a:ext cx="26289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53912" y="3675888"/>
            <a:ext cx="262890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6153912" y="4462272"/>
            <a:ext cx="2628900" cy="468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人工巡检覆盖率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不足，遗漏率高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901684" y="3584448"/>
            <a:ext cx="26289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901684" y="3675888"/>
            <a:ext cx="2628900" cy="8046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12→3 天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8901684" y="4462272"/>
            <a:ext cx="2628900" cy="468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处置周期有望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从半月缩短至 3 天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58368" y="5230368"/>
            <a:ext cx="1087221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6656" y="5340096"/>
            <a:ext cx="45720" cy="18288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5" name="Text 42"/>
          <p:cNvSpPr/>
          <p:nvPr/>
        </p:nvSpPr>
        <p:spPr>
          <a:xfrm>
            <a:off x="950976" y="5230368"/>
            <a:ext cx="102870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选题锚点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治理链条最薄弱环节是「发现」——用 IoT 技术把被动发现变成主动预警，具备规模化落地潜力。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选题定位与创新点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传统方案 VS 本项目：自研协议栈打通发现→认定→处置全链条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6675120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536192"/>
            <a:ext cx="295351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传统方法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78808" y="1536192"/>
            <a:ext cx="295351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59352" y="1609344"/>
            <a:ext cx="73152" cy="2596896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1901952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人工巡查 + 群众举报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78808" y="1901952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 + 时间三因子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9536" y="2478024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发现滞后，依赖巡查频率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78808" y="2478024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实时检测，超阈值即刻告警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9536" y="3054096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人工拍照，证据链不完整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78808" y="3054096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自动拍照 + 车牌识别留档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59536" y="3630168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受人力限制，偏重点区域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78808" y="3630168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一个网关覆盖整层，无死角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07808" y="1426464"/>
            <a:ext cx="3922776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7264" y="1536192"/>
            <a:ext cx="3483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四大核心创新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845552" y="1883664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5" name="Text 22"/>
          <p:cNvSpPr/>
          <p:nvPr/>
        </p:nvSpPr>
        <p:spPr>
          <a:xfrm>
            <a:off x="7845552" y="188366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47888" y="1883664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LoRa 私有轮询协议，18B 二进制帧零碰撞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845552" y="2505456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8" name="Text 25"/>
          <p:cNvSpPr/>
          <p:nvPr/>
        </p:nvSpPr>
        <p:spPr>
          <a:xfrm>
            <a:off x="7845552" y="250545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47888" y="2505456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三因子融合判定，误报率降至 3% 以下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845552" y="3127248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1" name="Text 28"/>
          <p:cNvSpPr/>
          <p:nvPr/>
        </p:nvSpPr>
        <p:spPr>
          <a:xfrm>
            <a:off x="7845552" y="312724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47888" y="3127248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BootLoader，OTA 两阶段提交 + 断电自愈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845552" y="3749040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4" name="Text 31"/>
          <p:cNvSpPr/>
          <p:nvPr/>
        </p:nvSpPr>
        <p:spPr>
          <a:xfrm>
            <a:off x="7845552" y="374904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247888" y="3749040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代上报 + MCP 语音全链路打通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58368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2960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316736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自动发现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2960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7x24 实时监控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406140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70732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3" name="Text 40"/>
          <p:cNvSpPr/>
          <p:nvPr/>
        </p:nvSpPr>
        <p:spPr>
          <a:xfrm>
            <a:off x="3570732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064508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免布线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570732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无线组网，老旧小区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与路侧场景零施工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153912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18504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8" name="Text 45"/>
          <p:cNvSpPr/>
          <p:nvPr/>
        </p:nvSpPr>
        <p:spPr>
          <a:xfrm>
            <a:off x="6318504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812280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取证闭环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318504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告警自动拍照取证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车牌识别留档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901684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066276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3" name="Text 50"/>
          <p:cNvSpPr/>
          <p:nvPr/>
        </p:nvSpPr>
        <p:spPr>
          <a:xfrm>
            <a:off x="9066276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9560052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数据贯通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066276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占用时长与告警记录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直达物业 / 交管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系统方案总览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五层链路全部自研，每一层都做了可靠性设计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6676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 节点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 + 报警灯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02052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58084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8084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12948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 定点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12948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网关轮询 · 半双工防碰撞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878324" y="1929384"/>
            <a:ext cx="256032" cy="0"/>
          </a:xfrm>
          <a:prstGeom prst="line">
            <a:avLst/>
          </a:prstGeom>
          <a:noFill/>
          <a:ln w="19050">
            <a:solidFill>
              <a:srgbClr val="0F62D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134356" y="1426464"/>
            <a:ext cx="1920240" cy="1005840"/>
          </a:xfrm>
          <a:prstGeom prst="rect">
            <a:avLst/>
          </a:prstGeom>
          <a:solidFill>
            <a:srgbClr val="EDF3FD"/>
          </a:solidFill>
          <a:ln w="15875">
            <a:solidFill>
              <a:srgbClr val="0F62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34356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汇聚层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89220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ESP8266 / ESP32 网关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89220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轮询调度 · MQTT 代上报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54596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0628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0628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65492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Studio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65492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 · 子设备拓扑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230868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486900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86900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541764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 / Web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541764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语音 · 车牌识别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58368" y="257860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62D6"/>
          </a:solidFill>
          <a:ln/>
        </p:spPr>
      </p:sp>
      <p:sp>
        <p:nvSpPr>
          <p:cNvPr id="35" name="Text 32"/>
          <p:cNvSpPr/>
          <p:nvPr/>
        </p:nvSpPr>
        <p:spPr>
          <a:xfrm>
            <a:off x="658368" y="2578608"/>
            <a:ext cx="10058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核心逻辑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773936" y="2578608"/>
            <a:ext cx="97566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网关点名 - 节点回答 - 网关代子设备上报；一个节点掉线不影响其他节点。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8368" y="2980944"/>
            <a:ext cx="1965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31036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9" name="Text 36"/>
          <p:cNvSpPr/>
          <p:nvPr/>
        </p:nvSpPr>
        <p:spPr>
          <a:xfrm>
            <a:off x="1431036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731520" y="3584448"/>
            <a:ext cx="1819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86384" y="3840480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三态判定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僵尸车识别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788920" y="2980944"/>
            <a:ext cx="1965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61588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4" name="Text 41"/>
          <p:cNvSpPr/>
          <p:nvPr/>
        </p:nvSpPr>
        <p:spPr>
          <a:xfrm>
            <a:off x="3561588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2862072" y="3584448"/>
            <a:ext cx="1819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无线层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2916936" y="3840480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轮询调度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在线快速路径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离线指数退避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919472" y="2980944"/>
            <a:ext cx="1965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92140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9" name="Text 46"/>
          <p:cNvSpPr/>
          <p:nvPr/>
        </p:nvSpPr>
        <p:spPr>
          <a:xfrm>
            <a:off x="5692140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4992624" y="3584448"/>
            <a:ext cx="1819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网关层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047488" y="3840480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代上报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假死检测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证书持久化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7050024" y="2980944"/>
            <a:ext cx="1965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822692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4" name="Text 51"/>
          <p:cNvSpPr/>
          <p:nvPr/>
        </p:nvSpPr>
        <p:spPr>
          <a:xfrm>
            <a:off x="7822692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7123176" y="3584448"/>
            <a:ext cx="1819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7178040" y="3840480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+ 子设备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物模型管理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服务调用反馈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9180576" y="2980944"/>
            <a:ext cx="196596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953244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9" name="Text 56"/>
          <p:cNvSpPr/>
          <p:nvPr/>
        </p:nvSpPr>
        <p:spPr>
          <a:xfrm>
            <a:off x="9953244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9253728" y="3584448"/>
            <a:ext cx="1819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9308592" y="3840480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语音</a:t>
            </a:r>
            <a:endParaRPr lang="en-US" sz="8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658368" y="4846320"/>
            <a:ext cx="1087221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76656" y="4956048"/>
            <a:ext cx="45720" cy="18288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64" name="Text 61"/>
          <p:cNvSpPr/>
          <p:nvPr/>
        </p:nvSpPr>
        <p:spPr>
          <a:xfrm>
            <a:off x="950976" y="4846320"/>
            <a:ext cx="102870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工程化亮点   </a:t>
            </a:r>
            <a:pPr indent="0" marL="0"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感知层双重传感器融合，无线层理论上零碰撞，网关层 MQTT 假死检测 + 证书落盘，应用层四端覆盖含 AI 语音与车牌取证。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核心技术亮点（一）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LoRa 私有协议：18B 帧 + 轮询零碰撞 + 断线自愈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 · lora_protocol.h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1673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通信链路：网关点名 → 节点应答 → 数据校验 → 代上报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网关点名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68096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按在线列表逐个发送 PING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88970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45002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54730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54730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节点应答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554730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回传传感器数据 + 状态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75604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31636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1364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41364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数据校验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341364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CRC16 校验通过才采纳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762238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018270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27998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27998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代上报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27998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网关打包 MQTT 上传 OneNET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58368" y="2798064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6656" y="2907792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2" name="Shape 29"/>
          <p:cNvSpPr/>
          <p:nvPr/>
        </p:nvSpPr>
        <p:spPr>
          <a:xfrm>
            <a:off x="859536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3" name="Text 30"/>
          <p:cNvSpPr/>
          <p:nvPr/>
        </p:nvSpPr>
        <p:spPr>
          <a:xfrm>
            <a:off x="859536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89888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零碰撞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389888" y="3200400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半双工轮询：同一时刻仅一个节点发送，多节点场景天然防撞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43400" y="2798064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61688" y="2907792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8" name="Shape 35"/>
          <p:cNvSpPr/>
          <p:nvPr/>
        </p:nvSpPr>
        <p:spPr>
          <a:xfrm>
            <a:off x="4544568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9" name="Text 36"/>
          <p:cNvSpPr/>
          <p:nvPr/>
        </p:nvSpPr>
        <p:spPr>
          <a:xfrm>
            <a:off x="4544568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074920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超短帧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74920" y="3200400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18B 二进制帧 + CRC16 校验，比标准帧瘦身 70%，传输时间减半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8028432" y="2798064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46720" y="2907792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4" name="Shape 41"/>
          <p:cNvSpPr/>
          <p:nvPr/>
        </p:nvSpPr>
        <p:spPr>
          <a:xfrm>
            <a:off x="8229600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5" name="Text 42"/>
          <p:cNvSpPr/>
          <p:nvPr/>
        </p:nvSpPr>
        <p:spPr>
          <a:xfrm>
            <a:off x="8229600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759952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自愈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759952" y="3200400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节点掉线不影响邻居；网关侧指数退避判定离线，假死自动重启连接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58368" y="4187952"/>
            <a:ext cx="3520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8368" y="4279392"/>
            <a:ext cx="352044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18B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658368" y="4780483"/>
            <a:ext cx="3520440" cy="316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单帧长度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（标准帧 60B）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343400" y="4187952"/>
            <a:ext cx="3520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43400" y="4279392"/>
            <a:ext cx="352044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4343400" y="4780483"/>
            <a:ext cx="3520440" cy="316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链路碰撞率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（轮询串行调度）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028432" y="4187952"/>
            <a:ext cx="3520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28432" y="4279392"/>
            <a:ext cx="352044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3s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8028432" y="4780483"/>
            <a:ext cx="3520440" cy="3160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单节点超时上限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超时即判定离线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核心技术亮点（二）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 + 超低功耗：准确发现，持久运行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8368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误报率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（三因子交叉验证）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06140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06140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&gt;99%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406140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识别准确率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（实测数据）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53912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个月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153912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（2000mAh 电池）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01684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01684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901684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日均功耗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休眠唤醒策略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368" y="2962656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" y="3072384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9536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5" name="Text 22"/>
          <p:cNvSpPr/>
          <p:nvPr/>
        </p:nvSpPr>
        <p:spPr>
          <a:xfrm>
            <a:off x="859536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89888" y="3090672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超声波触发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389888" y="3364992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检测前方遮挡，触发时间计数器；持续遮挡才计入占用时长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343400" y="2962656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61688" y="3072384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0" name="Shape 27"/>
          <p:cNvSpPr/>
          <p:nvPr/>
        </p:nvSpPr>
        <p:spPr>
          <a:xfrm>
            <a:off x="4544568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1" name="Text 28"/>
          <p:cNvSpPr/>
          <p:nvPr/>
        </p:nvSpPr>
        <p:spPr>
          <a:xfrm>
            <a:off x="4544568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74920" y="3090672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地磁确认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74920" y="3364992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磁场突变作为第二因子，超声波与地磁双确认防误判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028432" y="2962656"/>
            <a:ext cx="352044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46720" y="3072384"/>
            <a:ext cx="45720" cy="1024128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6" name="Shape 33"/>
          <p:cNvSpPr/>
          <p:nvPr/>
        </p:nvSpPr>
        <p:spPr>
          <a:xfrm>
            <a:off x="8229600" y="3108960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3108960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759952" y="3090672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时间阈值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759952" y="3364992"/>
            <a:ext cx="2569464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双因子一致且持续超时自动标为僵尸车，阈值可远程调优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58368" y="4370832"/>
            <a:ext cx="1087221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6656" y="4480560"/>
            <a:ext cx="45720" cy="18288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2" name="Text 39"/>
          <p:cNvSpPr/>
          <p:nvPr/>
        </p:nvSpPr>
        <p:spPr>
          <a:xfrm>
            <a:off x="950976" y="4370832"/>
            <a:ext cx="102870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低功耗设计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超声波常态休眠 + 地磁常醒微耗 + 时间触发判决，三态协同实现 6 个月免维护续航。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难点攻关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三个真实工程难点，我们逐个击破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 · OTA升级可靠性优化方案.md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536192"/>
            <a:ext cx="45720" cy="37124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Shape 9"/>
          <p:cNvSpPr/>
          <p:nvPr/>
        </p:nvSpPr>
        <p:spPr>
          <a:xfrm>
            <a:off x="877824" y="1572768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" y="157276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53312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01 · 通信可靠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分包丢失 + MQTT 假死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7824" y="228600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77824" y="250545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长帧分片后 CRC 校验失败即整包丢弃；MQTT 30s keepalive 后 60s 判死，连接假死无感知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77824" y="347472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77824" y="369417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消费式解析：每收到一分片立即校验，独立 ACK；改心跳为双阈值：30s 无数据报警，60s 无响应重启连接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9808" y="4498848"/>
            <a:ext cx="3337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498848"/>
            <a:ext cx="30815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通信成功率 99.9%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43400" y="1426464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61688" y="1536192"/>
            <a:ext cx="45720" cy="3712464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24" name="Shape 21"/>
          <p:cNvSpPr/>
          <p:nvPr/>
        </p:nvSpPr>
        <p:spPr>
          <a:xfrm>
            <a:off x="4562856" y="1572768"/>
            <a:ext cx="384048" cy="384048"/>
          </a:xfrm>
          <a:prstGeom prst="ellipse">
            <a:avLst/>
          </a:prstGeom>
          <a:solidFill>
            <a:srgbClr val="B07419"/>
          </a:solidFill>
          <a:ln/>
        </p:spPr>
      </p:sp>
      <p:sp>
        <p:nvSpPr>
          <p:cNvPr id="25" name="Text 22"/>
          <p:cNvSpPr/>
          <p:nvPr/>
        </p:nvSpPr>
        <p:spPr>
          <a:xfrm>
            <a:off x="4562856" y="157276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38344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02 · 内存稳定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38344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cJSON 泄漏 + AT 重连死循环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62856" y="228600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62856" y="250545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cJSON 解析后未释放内存，多次命令后堆耗尽；AT 指令失败后无限重试，卡死不走其他逻辑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62856" y="347472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62856" y="369417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响应式释放：解析后立即释放中间 Buffer；AT 重试改为有限重试（3 次 + 退避），超限走重启恢复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434840" y="4498848"/>
            <a:ext cx="3337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0741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62856" y="4498848"/>
            <a:ext cx="30815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连续运行 30 天无内存泄漏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28432" y="1426464"/>
            <a:ext cx="352044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46720" y="1536192"/>
            <a:ext cx="45720" cy="3712464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36" name="Shape 33"/>
          <p:cNvSpPr/>
          <p:nvPr/>
        </p:nvSpPr>
        <p:spPr>
          <a:xfrm>
            <a:off x="8247888" y="1572768"/>
            <a:ext cx="384048" cy="384048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37" name="Text 34"/>
          <p:cNvSpPr/>
          <p:nvPr/>
        </p:nvSpPr>
        <p:spPr>
          <a:xfrm>
            <a:off x="8247888" y="157276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723376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03 · 升级可靠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723376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断电变砖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47888" y="228600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247888" y="250545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升级中途掉电，新固件不完整导致设备无法启动，传统方案变砖需返厂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8247888" y="3474720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247888" y="3694176"/>
            <a:ext cx="3081528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BootLoader 校验 + 两阶段提交：先完整下载并校验 CRC32，再擦写 APP 区；断电可回退旧固件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119872" y="4498848"/>
            <a:ext cx="3337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23A3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47888" y="4498848"/>
            <a:ext cx="308152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变砖，自愈成功率 100%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首页：一屏掌握全局态势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全局概览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实时展示在线节点数、今日告警数、待处置僵尸车数，一眼掌握辖区态势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快速入口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 5 个 Tab（首页 / 车位 / 告警 / 数据 / 我的）直达各功能模块，操作路径最短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状态感知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系统健康度、网关在线率以色彩标识，异常自动置顶提醒，无需逐个排查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首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81328"/>
            <a:ext cx="2788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数据中心：从原始数据到决策依据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多维统计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按天 / 周 / 月聚合占用率、告警趋势、僵尸车增长曲线，支持同比环比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热力呈现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车位占用分布以热力图呈现，高频僵尸车区域一目了然，辅助资源调配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导出取证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统计结果可一键导出报表，作为执法取证与治理成效汇报的数据支撑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数据中心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81328"/>
            <a:ext cx="2788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车位查询：列表到详情的完整下钻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列表总览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按状态（空闲 / 占用 / 僵尸）筛选排序，僵尸车自动高亮置顶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详情下钻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点选任一车位进入详情，展示实时传感器数据、累计占用时长、历史曲线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一键处置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详情页直接发起拍照取证、语音告知、策略下发，处置动作不离屏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车位列表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00200"/>
            <a:ext cx="3154680" cy="4160520"/>
          </a:xfrm>
          <a:prstGeom prst="rect">
            <a:avLst/>
          </a:prstGeom>
        </p:spPr>
      </p:pic>
      <p:pic>
        <p:nvPicPr>
          <p:cNvPr id="23" name="Image 1" descr="G:/All_Project/Trae_Project/Smart-Paring-Iot/Doc/软件界面/车位详情页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3154680" cy="4160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50392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告警处理：从发现到闭环处置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实时推送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节点判定僵尸车后，告警 &lt;3s 推送至 APP，附带车位号与现场照片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分级处置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按风险等级标记（提示 / 警告 / 紧急），处置流程标准化，责任可追溯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闭环留痕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每次处置的记录、照片、结果均归档，形成完整取证链，支持复盘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告警列表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00200"/>
            <a:ext cx="3154680" cy="4160520"/>
          </a:xfrm>
          <a:prstGeom prst="rect">
            <a:avLst/>
          </a:prstGeom>
        </p:spPr>
      </p:pic>
      <p:pic>
        <p:nvPicPr>
          <p:cNvPr id="23" name="Image 1" descr="G:/All_Project/Trae_Project/Smart-Paring-Iot/Doc/软件界面/告警车处理详情页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3154680" cy="4160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告警列表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50392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处理详情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故障诊断：设备健康可观测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状态可视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每个节点的电池电压、信号强度、最近在线时间集中展示，亚健康状态提前预警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一键排查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异常节点支持远程重启、日志拉取，多数问题线上解决，免去现场奔波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49377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45354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历史回溯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453542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故障发生时间、恢复动作全程记录，为批量整改提供数据依据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故障诊断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81328"/>
            <a:ext cx="2788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策略配置与 OTA：远程运维闭环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554480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664208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700784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策略可调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9536" y="2011680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占用阈值、拍照间隔、告警级别均可远程配置并本地持久化，适配不同小区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907792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3017520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" y="3054096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灰度下发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3364992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策略支持按区域分组下发，先小范围验证再全量，降低误配置风险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261104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4370832"/>
            <a:ext cx="45720" cy="96926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407408"/>
            <a:ext cx="352958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自愈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9536" y="4718304"/>
            <a:ext cx="352958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固件升级进度实时可见，断电可续传，校验失败自动回退旧版，零变砖</a:t>
            </a:r>
            <a:endParaRPr lang="en-US" sz="900" dirty="0"/>
          </a:p>
        </p:txBody>
      </p:sp>
      <p:pic>
        <p:nvPicPr>
          <p:cNvPr id="22" name="Image 0" descr="G:/All_Project/Trae_Project/Smart-Paring-Iot/Doc/软件界面/策略配置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00200"/>
            <a:ext cx="3154680" cy="4160520"/>
          </a:xfrm>
          <a:prstGeom prst="rect">
            <a:avLst/>
          </a:prstGeom>
        </p:spPr>
      </p:pic>
      <p:pic>
        <p:nvPicPr>
          <p:cNvPr id="23" name="Image 1" descr="G:/All_Project/Trae_Project/Smart-Paring-Iot/Doc/软件界面/OTA升级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3154680" cy="4160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920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503920" y="5806440"/>
            <a:ext cx="3154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升级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系统能力与实测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核心指标一览：覆盖广、并发稳、取证快、升级可靠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 · 实测数据 2026.06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83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单网关覆盖节点数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4871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871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99.9%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4871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通信成功率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159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&lt;3s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3159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告警到 App 推送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全链路延迟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447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447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误报率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三因子判定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9735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735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98%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9735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升级成功率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802368" y="1426464"/>
            <a:ext cx="174650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02368" y="1517904"/>
            <a:ext cx="1746504" cy="6035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月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802368" y="2084832"/>
            <a:ext cx="1746504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免维护周期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8368" y="2706624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实验室 vs 实地测试对比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" y="2962656"/>
            <a:ext cx="5440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72784" y="2962656"/>
            <a:ext cx="543153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9536" y="3054096"/>
            <a:ext cx="50383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实验室环境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473952" y="3054096"/>
            <a:ext cx="502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实地环境（老旧小区）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59536" y="3364992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通信成功率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59536" y="3694176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99.9%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473952" y="3364992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通信成功率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473952" y="3694176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98.7%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59536" y="3730752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告警延迟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59536" y="4059936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&lt;1s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473952" y="3730752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告警延迟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73952" y="4059936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&lt;3s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59536" y="4096512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识别准确率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59536" y="4425696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99.5%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473952" y="4096512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识别准确率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473952" y="4425696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97.2%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59536" y="4462272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成功率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59536" y="4791456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473952" y="4462272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成功率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473952" y="4791456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98.0%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59536" y="4828032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59536" y="5157216"/>
            <a:ext cx="503834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6.5 月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473952" y="4828032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473952" y="5157216"/>
            <a:ext cx="5029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6.0 月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58368" y="5285232"/>
            <a:ext cx="108722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76656" y="5394960"/>
            <a:ext cx="45720" cy="12801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55" name="Text 52"/>
          <p:cNvSpPr/>
          <p:nvPr/>
        </p:nvSpPr>
        <p:spPr>
          <a:xfrm>
            <a:off x="950976" y="5285232"/>
            <a:ext cx="10287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实测结论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实地环境各项指标略降但整体稳定，证明方案在复杂场景下具备工程可用性。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结论与展望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一套端到端的僵尸车治理闭环，预留清晰扩展路径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53312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项目结论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609344"/>
            <a:ext cx="3520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1719072"/>
            <a:ext cx="45720" cy="131673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3" name="Shape 10"/>
          <p:cNvSpPr/>
          <p:nvPr/>
        </p:nvSpPr>
        <p:spPr>
          <a:xfrm>
            <a:off x="859536" y="1755648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" y="1755648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1737360"/>
            <a:ext cx="2606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全链路闭环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71600" y="2011680"/>
            <a:ext cx="26060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从感知、传输、判定到取证、处置，全链路自研，无外部依赖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43400" y="1609344"/>
            <a:ext cx="3520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61688" y="1719072"/>
            <a:ext cx="45720" cy="131673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9" name="Shape 16"/>
          <p:cNvSpPr/>
          <p:nvPr/>
        </p:nvSpPr>
        <p:spPr>
          <a:xfrm>
            <a:off x="4544568" y="1755648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0" name="Text 17"/>
          <p:cNvSpPr/>
          <p:nvPr/>
        </p:nvSpPr>
        <p:spPr>
          <a:xfrm>
            <a:off x="4544568" y="1755648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056632" y="1737360"/>
            <a:ext cx="2606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低成本低部署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56632" y="2011680"/>
            <a:ext cx="26060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单点成本约 80 元，半天完成 100 点位部署，老旧小区零施工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28432" y="1609344"/>
            <a:ext cx="3520440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46720" y="1719072"/>
            <a:ext cx="45720" cy="131673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5" name="Shape 22"/>
          <p:cNvSpPr/>
          <p:nvPr/>
        </p:nvSpPr>
        <p:spPr>
          <a:xfrm>
            <a:off x="8229600" y="1755648"/>
            <a:ext cx="402336" cy="40233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0" y="1755648"/>
            <a:ext cx="40233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741664" y="1737360"/>
            <a:ext cx="26060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高可靠设计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741664" y="2011680"/>
            <a:ext cx="26060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零碰撞通信 + 断电自愈 OTA + 指数退避离线判定，工程鲁棒性强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8368" y="332841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扩展方向（预留）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" y="3584448"/>
            <a:ext cx="26289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" y="3584448"/>
            <a:ext cx="45720" cy="896112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3657600"/>
            <a:ext cx="23180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场景复制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22960" y="3895344"/>
            <a:ext cx="231800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违停、占道、设备巡检等同类场景复用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406140" y="3584448"/>
            <a:ext cx="26289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406140" y="3584448"/>
            <a:ext cx="45720" cy="896112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36" name="Text 33"/>
          <p:cNvSpPr/>
          <p:nvPr/>
        </p:nvSpPr>
        <p:spPr>
          <a:xfrm>
            <a:off x="3570732" y="3657600"/>
            <a:ext cx="23180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平台对接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570732" y="3895344"/>
            <a:ext cx="231800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开放接口对接城市停车管理平台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53912" y="3584448"/>
            <a:ext cx="26289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53912" y="3584448"/>
            <a:ext cx="45720" cy="896112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40" name="Text 37"/>
          <p:cNvSpPr/>
          <p:nvPr/>
        </p:nvSpPr>
        <p:spPr>
          <a:xfrm>
            <a:off x="6318504" y="3657600"/>
            <a:ext cx="23180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多网关 Mesh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318504" y="3895344"/>
            <a:ext cx="231800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扩展至 1000+ 检测点的大型设施覆盖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8901684" y="3584448"/>
            <a:ext cx="26289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901684" y="3584448"/>
            <a:ext cx="45720" cy="896112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44" name="Text 41"/>
          <p:cNvSpPr/>
          <p:nvPr/>
        </p:nvSpPr>
        <p:spPr>
          <a:xfrm>
            <a:off x="9066276" y="3657600"/>
            <a:ext cx="231800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零取电方案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066276" y="3895344"/>
            <a:ext cx="2318004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地磁 + 太阳能实现无源节点部署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58368" y="4645152"/>
            <a:ext cx="10872216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6656" y="4754880"/>
            <a:ext cx="45720" cy="18288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8" name="Text 45"/>
          <p:cNvSpPr/>
          <p:nvPr/>
        </p:nvSpPr>
        <p:spPr>
          <a:xfrm>
            <a:off x="950976" y="4645152"/>
            <a:ext cx="102870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一句话总结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从传感器到 AI 语音，从检测到取证，打通僵尸车治理的发现→认定→处置全链条，具备低成本、高可靠的规模化落地能力。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僵尸车智能治理系统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僵尸车智能治理系统 · 项目汇报</dc:title>
  <dc:subject>选题背景、系统方案与核心功能</dc:subject>
  <dc:creator>僵尸车智能治理系统项目组</dc:creator>
  <cp:lastModifiedBy>僵尸车智能治理系统项目组</cp:lastModifiedBy>
  <cp:revision>1</cp:revision>
  <dcterms:created xsi:type="dcterms:W3CDTF">2026-09-15T16:19:00Z</dcterms:created>
  <dcterms:modified xsi:type="dcterms:W3CDTF">2026-09-15T16:19:00Z</dcterms:modified>
</cp:coreProperties>
</file>